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7" r:id="rId9"/>
    <p:sldId id="262" r:id="rId10"/>
    <p:sldId id="269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1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09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400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832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759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14212" y="1803400"/>
            <a:ext cx="8933096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l-GR" sz="5400" b="1" dirty="0">
                <a:solidFill>
                  <a:srgbClr val="F0F8FF"/>
                </a:solidFill>
                <a:latin typeface="Segoe UI Semibold" pitchFamily="34" charset="0"/>
                <a:cs typeface="Segoe UI Semibold" pitchFamily="34" charset="-120"/>
              </a:rPr>
              <a:t>ΑΣΚΗΣΗ 4 ΠΑΡΟΥΣΙΑΣΗ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1614212" y="2768600"/>
            <a:ext cx="8933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για Μη Γραμμική Βελτιστοποίηση</a:t>
            </a:r>
            <a:endParaRPr lang="en-US" sz="2993" dirty="0"/>
          </a:p>
        </p:txBody>
      </p:sp>
      <p:sp>
        <p:nvSpPr>
          <p:cNvPr id="4" name="Text 2"/>
          <p:cNvSpPr txBox="1"/>
          <p:nvPr/>
        </p:nvSpPr>
        <p:spPr>
          <a:xfrm>
            <a:off x="1614212" y="3251200"/>
            <a:ext cx="89330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Hybrid BFGS Method for Unconstrained Optimization</a:t>
            </a:r>
            <a:endParaRPr lang="en-US" sz="1795" dirty="0"/>
          </a:p>
        </p:txBody>
      </p:sp>
      <p:sp>
        <p:nvSpPr>
          <p:cNvPr id="5" name="Text 3"/>
          <p:cNvSpPr txBox="1"/>
          <p:nvPr/>
        </p:nvSpPr>
        <p:spPr>
          <a:xfrm>
            <a:off x="4016132" y="3810000"/>
            <a:ext cx="41291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dirty="0">
                <a:solidFill>
                  <a:srgbClr val="68B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Mohd Asrul Hery Ibrahim &amp; Mustafa Mamat</a:t>
            </a:r>
            <a:endParaRPr lang="en-US" sz="1795" dirty="0"/>
          </a:p>
        </p:txBody>
      </p:sp>
      <p:sp>
        <p:nvSpPr>
          <p:cNvPr id="6" name="Text 4"/>
          <p:cNvSpPr txBox="1"/>
          <p:nvPr/>
        </p:nvSpPr>
        <p:spPr>
          <a:xfrm>
            <a:off x="4031421" y="4216400"/>
            <a:ext cx="41291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68B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Sains Malaysiana, 2014</a:t>
            </a:r>
            <a:endParaRPr lang="en-US" sz="1496" dirty="0"/>
          </a:p>
        </p:txBody>
      </p:sp>
      <p:sp>
        <p:nvSpPr>
          <p:cNvPr id="7" name="Text 5"/>
          <p:cNvSpPr txBox="1"/>
          <p:nvPr/>
        </p:nvSpPr>
        <p:spPr>
          <a:xfrm>
            <a:off x="5299730" y="4525951"/>
            <a:ext cx="1592538" cy="396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l-GR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Τσαγκανός </a:t>
            </a:r>
          </a:p>
          <a:p>
            <a:pPr marL="0" indent="0" algn="ctr">
              <a:buNone/>
            </a:pPr>
            <a:r>
              <a:rPr lang="el-GR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Αλέξανδρος</a:t>
            </a:r>
            <a:endParaRPr lang="en-US" sz="1197" dirty="0"/>
          </a:p>
        </p:txBody>
      </p:sp>
      <p:sp>
        <p:nvSpPr>
          <p:cNvPr id="8" name="Text 6"/>
          <p:cNvSpPr txBox="1"/>
          <p:nvPr/>
        </p:nvSpPr>
        <p:spPr>
          <a:xfrm>
            <a:off x="5284441" y="5054600"/>
            <a:ext cx="159253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Δεκέμβριος 2025</a:t>
            </a:r>
            <a:endParaRPr lang="en-US" sz="119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048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91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Το Πρόβλημα Βελτιστοποίησης</a:t>
            </a:r>
            <a:endParaRPr lang="en-US" sz="3591" dirty="0"/>
          </a:p>
        </p:txBody>
      </p:sp>
      <p:sp>
        <p:nvSpPr>
          <p:cNvPr id="3" name="Text 1"/>
          <p:cNvSpPr txBox="1"/>
          <p:nvPr/>
        </p:nvSpPr>
        <p:spPr>
          <a:xfrm>
            <a:off x="0" y="8382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Ορισμός και Μαθηματική Διατύπωση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608076" y="1911350"/>
            <a:ext cx="1094536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Το Πρόβλημα</a:t>
            </a:r>
            <a:endParaRPr lang="en-US" sz="1795" dirty="0"/>
          </a:p>
        </p:txBody>
      </p:sp>
      <p:sp>
        <p:nvSpPr>
          <p:cNvPr id="5" name="Text 3"/>
          <p:cNvSpPr txBox="1"/>
          <p:nvPr/>
        </p:nvSpPr>
        <p:spPr>
          <a:xfrm>
            <a:off x="608076" y="2266950"/>
            <a:ext cx="10945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Εύρεση ελάχιστης τιμής συνάρτησης χωρίς περιορισμούς</a:t>
            </a:r>
            <a:endParaRPr lang="en-US" sz="1496" dirty="0"/>
          </a:p>
        </p:txBody>
      </p:sp>
      <p:sp>
        <p:nvSpPr>
          <p:cNvPr id="6" name="Shape 4"/>
          <p:cNvSpPr/>
          <p:nvPr/>
        </p:nvSpPr>
        <p:spPr>
          <a:xfrm>
            <a:off x="608076" y="2597150"/>
            <a:ext cx="10945368" cy="609600"/>
          </a:xfrm>
          <a:prstGeom prst="roundRect">
            <a:avLst>
              <a:gd name="adj" fmla="val 25000"/>
            </a:avLst>
          </a:prstGeom>
          <a:solidFill>
            <a:srgbClr val="68B8D9">
              <a:alpha val="1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10768" y="2749550"/>
            <a:ext cx="105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94" dirty="0">
                <a:solidFill>
                  <a:srgbClr val="68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f(x) για x ∈ Rⁿ</a:t>
            </a:r>
            <a:endParaRPr lang="en-US" sz="2394" dirty="0"/>
          </a:p>
        </p:txBody>
      </p:sp>
      <p:sp>
        <p:nvSpPr>
          <p:cNvPr id="8" name="Text 6"/>
          <p:cNvSpPr txBox="1"/>
          <p:nvPr/>
        </p:nvSpPr>
        <p:spPr>
          <a:xfrm>
            <a:off x="608076" y="3308350"/>
            <a:ext cx="1094536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όπου f(x): Rⁿ → R είναι δύο φορές συνεχώς παραγωγίσιμη συνάρτηση</a:t>
            </a:r>
            <a:endParaRPr lang="en-US" sz="1197" dirty="0"/>
          </a:p>
        </p:txBody>
      </p:sp>
      <p:sp>
        <p:nvSpPr>
          <p:cNvPr id="9" name="Text 7"/>
          <p:cNvSpPr txBox="1"/>
          <p:nvPr/>
        </p:nvSpPr>
        <p:spPr>
          <a:xfrm>
            <a:off x="608076" y="3580417"/>
            <a:ext cx="1094536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Βασικά Στοιχεία</a:t>
            </a:r>
            <a:endParaRPr lang="en-US" sz="1795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5475" y="3879850"/>
            <a:ext cx="202692" cy="203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12114" y="3923317"/>
            <a:ext cx="32558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g(x)</a:t>
            </a:r>
            <a:r>
              <a:rPr lang="en-US" sz="1496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Η κλίση (gradient) της συνάρτησης</a:t>
            </a:r>
            <a:endParaRPr lang="en-US" sz="1496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2874" y="4282153"/>
            <a:ext cx="202692" cy="203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12114" y="4383549"/>
            <a:ext cx="35839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G(x)</a:t>
            </a:r>
            <a:r>
              <a:rPr lang="en-US" sz="1496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Η μήτρα Hessian (δεύτερες παράγωγοι)</a:t>
            </a:r>
            <a:endParaRPr lang="en-US" sz="1496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8076" y="4794250"/>
            <a:ext cx="202692" cy="203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12114" y="4885199"/>
            <a:ext cx="3431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x*</a:t>
            </a:r>
            <a:r>
              <a:rPr lang="en-US" sz="1496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Το σημείο ελαχίστου όπου </a:t>
            </a:r>
            <a:r>
              <a:rPr lang="en-US" sz="1496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g(x*) = 0</a:t>
            </a:r>
            <a:endParaRPr lang="en-US" sz="1496" dirty="0"/>
          </a:p>
        </p:txBody>
      </p:sp>
      <p:sp>
        <p:nvSpPr>
          <p:cNvPr id="16" name="Shape 11"/>
          <p:cNvSpPr/>
          <p:nvPr/>
        </p:nvSpPr>
        <p:spPr>
          <a:xfrm>
            <a:off x="608076" y="5314950"/>
            <a:ext cx="10945368" cy="520700"/>
          </a:xfrm>
          <a:prstGeom prst="roundRect">
            <a:avLst>
              <a:gd name="adj" fmla="val 34265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0077BE">
                <a:alpha val="3000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66429" y="5473700"/>
            <a:ext cx="1062866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Εφαρμογές: Μηχανική μάθηση, οικονομική μοντελοποίηση, μηχανική, επιστημονικοί υπολογισμοί</a:t>
            </a:r>
            <a:endParaRPr lang="en-US" sz="1197" dirty="0"/>
          </a:p>
        </p:txBody>
      </p:sp>
      <p:sp>
        <p:nvSpPr>
          <p:cNvPr id="18" name="Text 13"/>
          <p:cNvSpPr txBox="1"/>
          <p:nvPr/>
        </p:nvSpPr>
        <p:spPr>
          <a:xfrm>
            <a:off x="304038" y="6527800"/>
            <a:ext cx="216132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HBFGS Method | Ibrahim &amp; Mamat, 2014</a:t>
            </a:r>
            <a:endParaRPr lang="en-US" sz="998" dirty="0"/>
          </a:p>
        </p:txBody>
      </p:sp>
      <p:sp>
        <p:nvSpPr>
          <p:cNvPr id="19" name="Text 14"/>
          <p:cNvSpPr txBox="1"/>
          <p:nvPr/>
        </p:nvSpPr>
        <p:spPr>
          <a:xfrm>
            <a:off x="11794141" y="6527800"/>
            <a:ext cx="6334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99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048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91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Η Κλασική Μέθοδος BFGS</a:t>
            </a:r>
            <a:endParaRPr lang="en-US" sz="3591" dirty="0"/>
          </a:p>
        </p:txBody>
      </p:sp>
      <p:sp>
        <p:nvSpPr>
          <p:cNvPr id="3" name="Text 1"/>
          <p:cNvSpPr txBox="1"/>
          <p:nvPr/>
        </p:nvSpPr>
        <p:spPr>
          <a:xfrm>
            <a:off x="0" y="8382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Broyden-Fletcher-Goldfarb-Shanno Quasi-Newton Method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608076" y="1371600"/>
            <a:ext cx="1094536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BFGS Update Matrix Formula</a:t>
            </a:r>
            <a:endParaRPr lang="en-US" sz="1795" dirty="0"/>
          </a:p>
        </p:txBody>
      </p:sp>
      <p:sp>
        <p:nvSpPr>
          <p:cNvPr id="5" name="Text 3"/>
          <p:cNvSpPr txBox="1"/>
          <p:nvPr/>
        </p:nvSpPr>
        <p:spPr>
          <a:xfrm>
            <a:off x="608076" y="1727200"/>
            <a:ext cx="1094536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Προσέγγιση της Hessian μήτρας χωρίς να υπολογίζεται άμεσα η G(x)</a:t>
            </a:r>
            <a:endParaRPr lang="en-US" sz="1197" dirty="0"/>
          </a:p>
        </p:txBody>
      </p:sp>
      <p:sp>
        <p:nvSpPr>
          <p:cNvPr id="6" name="Shape 4"/>
          <p:cNvSpPr/>
          <p:nvPr/>
        </p:nvSpPr>
        <p:spPr>
          <a:xfrm>
            <a:off x="608076" y="2032000"/>
            <a:ext cx="10945368" cy="558800"/>
          </a:xfrm>
          <a:prstGeom prst="roundRect">
            <a:avLst>
              <a:gd name="adj" fmla="val 29752"/>
            </a:avLst>
          </a:prstGeom>
          <a:solidFill>
            <a:srgbClr val="0077BE">
              <a:alpha val="1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10768" y="2184400"/>
            <a:ext cx="105399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dirty="0">
                <a:solidFill>
                  <a:srgbClr val="68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Bₖ₊₁ = Bₖ - (BₖsₖsₖᵀBₖ)/(sₖᵀBₖsₖ) + (yₖyₖᵀ)/(yₖᵀsₖ)</a:t>
            </a:r>
            <a:endParaRPr lang="en-US" sz="1795" dirty="0"/>
          </a:p>
        </p:txBody>
      </p:sp>
      <p:sp>
        <p:nvSpPr>
          <p:cNvPr id="8" name="Text 6"/>
          <p:cNvSpPr txBox="1"/>
          <p:nvPr/>
        </p:nvSpPr>
        <p:spPr>
          <a:xfrm>
            <a:off x="608076" y="2692400"/>
            <a:ext cx="1094536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όπου: sₖ = xₖ₊₁ - xₖ (βήμα)</a:t>
            </a:r>
            <a:endParaRPr lang="en-US" sz="1197" dirty="0"/>
          </a:p>
        </p:txBody>
      </p:sp>
      <p:sp>
        <p:nvSpPr>
          <p:cNvPr id="9" name="Text 7"/>
          <p:cNvSpPr txBox="1"/>
          <p:nvPr/>
        </p:nvSpPr>
        <p:spPr>
          <a:xfrm>
            <a:off x="608076" y="2946400"/>
            <a:ext cx="1094536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yₖ = gₖ₊₁ - gₖ (αλλαγή κλίσης)</a:t>
            </a:r>
            <a:endParaRPr lang="en-US" sz="1197" dirty="0"/>
          </a:p>
        </p:txBody>
      </p:sp>
      <p:sp>
        <p:nvSpPr>
          <p:cNvPr id="10" name="Shape 8"/>
          <p:cNvSpPr/>
          <p:nvPr/>
        </p:nvSpPr>
        <p:spPr>
          <a:xfrm>
            <a:off x="608076" y="3352800"/>
            <a:ext cx="5371338" cy="3022600"/>
          </a:xfrm>
          <a:prstGeom prst="roundRect">
            <a:avLst>
              <a:gd name="adj" fmla="val 1017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68B8D9">
                <a:alpha val="30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7102" y="4076700"/>
            <a:ext cx="304038" cy="3048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22486" y="4114800"/>
            <a:ext cx="2543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Συνθήκη Θετικής Ορισμένης</a:t>
            </a:r>
            <a:endParaRPr lang="en-US" sz="1496" dirty="0"/>
          </a:p>
        </p:txBody>
      </p:sp>
      <p:sp>
        <p:nvSpPr>
          <p:cNvPr id="13" name="Text 10"/>
          <p:cNvSpPr txBox="1"/>
          <p:nvPr/>
        </p:nvSpPr>
        <p:spPr>
          <a:xfrm>
            <a:off x="817102" y="4686300"/>
            <a:ext cx="49532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dirty="0">
                <a:solidFill>
                  <a:srgbClr val="68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yₖᵀsₖ &gt; 0</a:t>
            </a:r>
            <a:endParaRPr lang="en-US" sz="1795" dirty="0"/>
          </a:p>
        </p:txBody>
      </p:sp>
      <p:sp>
        <p:nvSpPr>
          <p:cNvPr id="14" name="Text 11"/>
          <p:cNvSpPr txBox="1"/>
          <p:nvPr/>
        </p:nvSpPr>
        <p:spPr>
          <a:xfrm>
            <a:off x="817102" y="5245100"/>
            <a:ext cx="495328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Εξασφαλίζει ότι η Bₖ παραμένει θετικά ορισμένη και η κατεύθυνση αναζήτησης είναι καταβάσεως</a:t>
            </a:r>
            <a:endParaRPr lang="en-US" sz="1197" dirty="0"/>
          </a:p>
        </p:txBody>
      </p:sp>
      <p:sp>
        <p:nvSpPr>
          <p:cNvPr id="15" name="Shape 12"/>
          <p:cNvSpPr/>
          <p:nvPr/>
        </p:nvSpPr>
        <p:spPr>
          <a:xfrm>
            <a:off x="6182106" y="3352800"/>
            <a:ext cx="5371338" cy="3022600"/>
          </a:xfrm>
          <a:prstGeom prst="roundRect">
            <a:avLst>
              <a:gd name="adj" fmla="val 1017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68B8D9">
                <a:alpha val="30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91132" y="4178300"/>
            <a:ext cx="304038" cy="3048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796516" y="4216400"/>
            <a:ext cx="2243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Κατεύθυνση Αναζήτησης</a:t>
            </a:r>
            <a:endParaRPr lang="en-US" sz="1496" dirty="0"/>
          </a:p>
        </p:txBody>
      </p:sp>
      <p:sp>
        <p:nvSpPr>
          <p:cNvPr id="18" name="Text 14"/>
          <p:cNvSpPr txBox="1"/>
          <p:nvPr/>
        </p:nvSpPr>
        <p:spPr>
          <a:xfrm>
            <a:off x="6391132" y="4787900"/>
            <a:ext cx="49532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dirty="0">
                <a:solidFill>
                  <a:srgbClr val="68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dₖ = -Bₖ⁻¹gₖ</a:t>
            </a:r>
            <a:endParaRPr lang="en-US" sz="1795" dirty="0"/>
          </a:p>
        </p:txBody>
      </p:sp>
      <p:sp>
        <p:nvSpPr>
          <p:cNvPr id="19" name="Text 15"/>
          <p:cNvSpPr txBox="1"/>
          <p:nvPr/>
        </p:nvSpPr>
        <p:spPr>
          <a:xfrm>
            <a:off x="6391132" y="5346700"/>
            <a:ext cx="495328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Ανάλογη της κατεύθυνσης Newton αλλά με προσεγγιστική Hessian</a:t>
            </a:r>
            <a:endParaRPr lang="en-US" sz="1197" dirty="0"/>
          </a:p>
        </p:txBody>
      </p:sp>
      <p:sp>
        <p:nvSpPr>
          <p:cNvPr id="20" name="Text 16"/>
          <p:cNvSpPr txBox="1"/>
          <p:nvPr/>
        </p:nvSpPr>
        <p:spPr>
          <a:xfrm>
            <a:off x="304038" y="6527800"/>
            <a:ext cx="216132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HBFGS Method | Ibrahim &amp; Mamat, 2014</a:t>
            </a:r>
            <a:endParaRPr lang="en-US" sz="998" dirty="0"/>
          </a:p>
        </p:txBody>
      </p:sp>
      <p:sp>
        <p:nvSpPr>
          <p:cNvPr id="21" name="Text 17"/>
          <p:cNvSpPr txBox="1"/>
          <p:nvPr/>
        </p:nvSpPr>
        <p:spPr>
          <a:xfrm>
            <a:off x="11794141" y="6527800"/>
            <a:ext cx="6334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99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048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91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Κίνητρο για την Υβριδική Μέθοδο</a:t>
            </a:r>
            <a:endParaRPr lang="en-US" sz="3591" dirty="0"/>
          </a:p>
        </p:txBody>
      </p:sp>
      <p:sp>
        <p:nvSpPr>
          <p:cNvPr id="3" name="Text 1"/>
          <p:cNvSpPr txBox="1"/>
          <p:nvPr/>
        </p:nvSpPr>
        <p:spPr>
          <a:xfrm>
            <a:off x="0" y="8382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Από την Κλασική BFGS στην Υβριδική HBFGS</a:t>
            </a:r>
            <a:endParaRPr lang="en-US" sz="1496" dirty="0"/>
          </a:p>
        </p:txBody>
      </p:sp>
      <p:sp>
        <p:nvSpPr>
          <p:cNvPr id="4" name="Shape 2"/>
          <p:cNvSpPr/>
          <p:nvPr/>
        </p:nvSpPr>
        <p:spPr>
          <a:xfrm>
            <a:off x="608076" y="1524000"/>
            <a:ext cx="10945368" cy="838200"/>
          </a:xfrm>
          <a:prstGeom prst="roundRect">
            <a:avLst>
              <a:gd name="adj" fmla="val 13223"/>
            </a:avLst>
          </a:prstGeom>
          <a:solidFill>
            <a:srgbClr val="68B8D9"/>
          </a:solidFill>
          <a:ln w="12668">
            <a:solidFill>
              <a:srgbClr val="68B8D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2763" y="1765300"/>
            <a:ext cx="354711" cy="355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79493" y="1689100"/>
            <a:ext cx="62466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Η Πρόκληση: Βελτίωση της Αποδοτικότητας της BFGS</a:t>
            </a:r>
            <a:endParaRPr lang="en-US" sz="1795" dirty="0"/>
          </a:p>
        </p:txBody>
      </p:sp>
      <p:sp>
        <p:nvSpPr>
          <p:cNvPr id="7" name="Text 4"/>
          <p:cNvSpPr txBox="1"/>
          <p:nvPr/>
        </p:nvSpPr>
        <p:spPr>
          <a:xfrm>
            <a:off x="1279493" y="1993900"/>
            <a:ext cx="624663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Η κλασική BFGS είναι αποτελεσματική αλλά υπάρχει περιθώριο βελτίωσης στην ταχύτητα σύγκλισης</a:t>
            </a:r>
            <a:endParaRPr lang="en-US" sz="1197" dirty="0"/>
          </a:p>
        </p:txBody>
      </p:sp>
      <p:sp>
        <p:nvSpPr>
          <p:cNvPr id="8" name="Shape 5"/>
          <p:cNvSpPr/>
          <p:nvPr/>
        </p:nvSpPr>
        <p:spPr>
          <a:xfrm>
            <a:off x="595408" y="2563515"/>
            <a:ext cx="5371338" cy="2641600"/>
          </a:xfrm>
          <a:prstGeom prst="roundRect">
            <a:avLst>
              <a:gd name="adj" fmla="val 1331"/>
            </a:avLst>
          </a:prstGeom>
          <a:solidFill>
            <a:srgbClr val="0077BE">
              <a:alpha val="5000"/>
            </a:srgbClr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0768" y="2768600"/>
            <a:ext cx="253365" cy="254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65479" y="2768600"/>
            <a:ext cx="20160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Περιορισμοί BFGS</a:t>
            </a:r>
            <a:endParaRPr lang="en-US" sz="1795" dirty="0"/>
          </a:p>
        </p:txBody>
      </p:sp>
      <p:sp>
        <p:nvSpPr>
          <p:cNvPr id="11" name="Shape 7"/>
          <p:cNvSpPr/>
          <p:nvPr/>
        </p:nvSpPr>
        <p:spPr>
          <a:xfrm>
            <a:off x="797432" y="3251200"/>
            <a:ext cx="50673" cy="50800"/>
          </a:xfrm>
          <a:prstGeom prst="roundRect">
            <a:avLst>
              <a:gd name="adj" fmla="val 4510827068"/>
            </a:avLst>
          </a:prstGeom>
          <a:solidFill>
            <a:srgbClr val="68B8D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49451" y="3253085"/>
            <a:ext cx="359026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Βασίζεται μόνο σε πληροφορίες καμπυλότητας (curvature)</a:t>
            </a:r>
            <a:endParaRPr lang="en-US" sz="1197" dirty="0"/>
          </a:p>
        </p:txBody>
      </p:sp>
      <p:sp>
        <p:nvSpPr>
          <p:cNvPr id="13" name="Shape 9"/>
          <p:cNvSpPr/>
          <p:nvPr/>
        </p:nvSpPr>
        <p:spPr>
          <a:xfrm>
            <a:off x="801727" y="3633102"/>
            <a:ext cx="50673" cy="50800"/>
          </a:xfrm>
          <a:prstGeom prst="roundRect">
            <a:avLst>
              <a:gd name="adj" fmla="val 4510827068"/>
            </a:avLst>
          </a:prstGeom>
          <a:solidFill>
            <a:srgbClr val="68B8D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49451" y="3658502"/>
            <a:ext cx="30790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Δεν αξιοποιεί πλήρως την ιστορία της αναζήτησης</a:t>
            </a:r>
            <a:endParaRPr lang="en-US" sz="1197" dirty="0"/>
          </a:p>
        </p:txBody>
      </p:sp>
      <p:sp>
        <p:nvSpPr>
          <p:cNvPr id="15" name="Shape 11"/>
          <p:cNvSpPr/>
          <p:nvPr/>
        </p:nvSpPr>
        <p:spPr>
          <a:xfrm>
            <a:off x="801727" y="4038764"/>
            <a:ext cx="50673" cy="50800"/>
          </a:xfrm>
          <a:prstGeom prst="roundRect">
            <a:avLst>
              <a:gd name="adj" fmla="val 4510827068"/>
            </a:avLst>
          </a:prstGeom>
          <a:solidFill>
            <a:srgbClr val="68B8D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37451" y="4049252"/>
            <a:ext cx="28144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Μπορεί να απαιτεί περισσότερες επαναλήψεις</a:t>
            </a:r>
            <a:endParaRPr lang="en-US" sz="1197" dirty="0"/>
          </a:p>
        </p:txBody>
      </p:sp>
      <p:sp>
        <p:nvSpPr>
          <p:cNvPr id="17" name="Shape 13"/>
          <p:cNvSpPr/>
          <p:nvPr/>
        </p:nvSpPr>
        <p:spPr>
          <a:xfrm>
            <a:off x="797431" y="4442623"/>
            <a:ext cx="50673" cy="50800"/>
          </a:xfrm>
          <a:prstGeom prst="roundRect">
            <a:avLst>
              <a:gd name="adj" fmla="val 4510827068"/>
            </a:avLst>
          </a:prstGeom>
          <a:solidFill>
            <a:srgbClr val="68B8D9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37451" y="4445000"/>
            <a:ext cx="348564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Η κατεύθυνση αναζήτησης εξαρτάται μόνο από </a:t>
            </a:r>
            <a:r>
              <a:rPr lang="en-US" sz="1197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Bₖ⁻¹gₖ</a:t>
            </a:r>
            <a:endParaRPr lang="en-US" sz="1197" dirty="0"/>
          </a:p>
        </p:txBody>
      </p:sp>
      <p:sp>
        <p:nvSpPr>
          <p:cNvPr id="19" name="Shape 15"/>
          <p:cNvSpPr/>
          <p:nvPr/>
        </p:nvSpPr>
        <p:spPr>
          <a:xfrm>
            <a:off x="6182106" y="2565400"/>
            <a:ext cx="5371338" cy="2641600"/>
          </a:xfrm>
          <a:prstGeom prst="roundRect">
            <a:avLst>
              <a:gd name="adj" fmla="val 1331"/>
            </a:avLst>
          </a:prstGeom>
          <a:solidFill>
            <a:srgbClr val="68B8D9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84798" y="2768600"/>
            <a:ext cx="253365" cy="2540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65245" y="2711450"/>
            <a:ext cx="281154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l-GR" sz="1795" b="1" dirty="0">
                <a:solidFill>
                  <a:schemeClr val="accent5">
                    <a:lumMod val="75000"/>
                  </a:scheme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Υβριδική </a:t>
            </a:r>
            <a:r>
              <a:rPr lang="en-US" sz="1795" b="1" dirty="0">
                <a:solidFill>
                  <a:schemeClr val="accent5">
                    <a:lumMod val="75000"/>
                  </a:scheme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BFGS</a:t>
            </a:r>
            <a:endParaRPr lang="en-US" sz="1795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84798" y="3556000"/>
            <a:ext cx="152019" cy="1524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549322" y="3111500"/>
            <a:ext cx="320427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Συνδυάζει quasi-Newton με conjugate gradient ιδέες</a:t>
            </a:r>
            <a:endParaRPr lang="en-US" sz="1197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84798" y="3860800"/>
            <a:ext cx="152019" cy="1524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549322" y="3594100"/>
            <a:ext cx="323456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Αξιοποιεί την προηγούμενη κατεύθυνση αναζήτησης</a:t>
            </a:r>
            <a:endParaRPr lang="en-US" sz="1197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84798" y="4165600"/>
            <a:ext cx="152019" cy="1524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549322" y="4023156"/>
            <a:ext cx="201078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Βελτιωμένη ταχύτητα σύγκλισης</a:t>
            </a:r>
            <a:endParaRPr lang="en-US" sz="1197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84798" y="4470400"/>
            <a:ext cx="152019" cy="1524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549322" y="4467164"/>
            <a:ext cx="276732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Διατηρεί τις θεωρητικές εγγυήσεις της BFGS</a:t>
            </a:r>
            <a:endParaRPr lang="en-US" sz="1197" dirty="0"/>
          </a:p>
        </p:txBody>
      </p:sp>
      <p:sp>
        <p:nvSpPr>
          <p:cNvPr id="30" name="Shape 21"/>
          <p:cNvSpPr/>
          <p:nvPr/>
        </p:nvSpPr>
        <p:spPr>
          <a:xfrm>
            <a:off x="608076" y="5410200"/>
            <a:ext cx="10945368" cy="812800"/>
          </a:xfrm>
          <a:prstGeom prst="roundRect">
            <a:avLst>
              <a:gd name="adj" fmla="val 14063"/>
            </a:avLst>
          </a:prstGeom>
          <a:solidFill>
            <a:srgbClr val="68B8D9"/>
          </a:solidFill>
          <a:ln w="12668">
            <a:solidFill>
              <a:srgbClr val="68B8D9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2763" y="5638800"/>
            <a:ext cx="354711" cy="35560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279493" y="5575300"/>
            <a:ext cx="49744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Λύση: Υβριδική κατεύθυνση </a:t>
            </a:r>
            <a:r>
              <a:rPr lang="en-US" sz="1496" b="1" dirty="0">
                <a:solidFill>
                  <a:srgbClr val="68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dₖ = -Bₖ⁻¹gₖ + λₖdₖ₋₁</a:t>
            </a:r>
            <a:endParaRPr lang="en-US" sz="1496" dirty="0"/>
          </a:p>
        </p:txBody>
      </p:sp>
      <p:sp>
        <p:nvSpPr>
          <p:cNvPr id="33" name="Text 23"/>
          <p:cNvSpPr txBox="1"/>
          <p:nvPr/>
        </p:nvSpPr>
        <p:spPr>
          <a:xfrm>
            <a:off x="1279493" y="5854700"/>
            <a:ext cx="497446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Ο όρος </a:t>
            </a:r>
            <a:r>
              <a:rPr lang="en-US" sz="1197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λₖdₖ₋₁</a:t>
            </a: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προσθέτει conjugate gradient χαρακτηριστικά</a:t>
            </a:r>
            <a:endParaRPr lang="en-US" sz="1197" dirty="0"/>
          </a:p>
        </p:txBody>
      </p:sp>
      <p:sp>
        <p:nvSpPr>
          <p:cNvPr id="34" name="Text 24"/>
          <p:cNvSpPr txBox="1"/>
          <p:nvPr/>
        </p:nvSpPr>
        <p:spPr>
          <a:xfrm>
            <a:off x="304038" y="6527800"/>
            <a:ext cx="216132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HBFGS Method | Ibrahim &amp; Mamat, 2014</a:t>
            </a:r>
            <a:endParaRPr lang="en-US" sz="998" dirty="0"/>
          </a:p>
        </p:txBody>
      </p:sp>
      <p:sp>
        <p:nvSpPr>
          <p:cNvPr id="35" name="Text 25"/>
          <p:cNvSpPr txBox="1"/>
          <p:nvPr/>
        </p:nvSpPr>
        <p:spPr>
          <a:xfrm>
            <a:off x="11794141" y="6527800"/>
            <a:ext cx="6334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99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032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Μαθηματική Ανάπτυξη I</a:t>
            </a:r>
            <a:endParaRPr lang="en-US" sz="2993" dirty="0"/>
          </a:p>
        </p:txBody>
      </p:sp>
      <p:sp>
        <p:nvSpPr>
          <p:cNvPr id="3" name="Text 1"/>
          <p:cNvSpPr txBox="1"/>
          <p:nvPr/>
        </p:nvSpPr>
        <p:spPr>
          <a:xfrm>
            <a:off x="0" y="6350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Update Matrix και Υβριδική Κατεύθυνση Αναζήτησης</a:t>
            </a:r>
            <a:endParaRPr lang="en-US" sz="1496" dirty="0"/>
          </a:p>
        </p:txBody>
      </p:sp>
      <p:sp>
        <p:nvSpPr>
          <p:cNvPr id="4" name="Text 2"/>
          <p:cNvSpPr txBox="1"/>
          <p:nvPr/>
        </p:nvSpPr>
        <p:spPr>
          <a:xfrm>
            <a:off x="608076" y="1168400"/>
            <a:ext cx="10945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BFGS Update Matrix (Εξίσωση 3)</a:t>
            </a:r>
            <a:endParaRPr lang="en-US" sz="1496" dirty="0"/>
          </a:p>
        </p:txBody>
      </p:sp>
      <p:sp>
        <p:nvSpPr>
          <p:cNvPr id="5" name="Shape 3"/>
          <p:cNvSpPr/>
          <p:nvPr/>
        </p:nvSpPr>
        <p:spPr>
          <a:xfrm>
            <a:off x="608076" y="1473200"/>
            <a:ext cx="10945368" cy="355600"/>
          </a:xfrm>
          <a:prstGeom prst="roundRect">
            <a:avLst>
              <a:gd name="adj" fmla="val 73469"/>
            </a:avLst>
          </a:prstGeom>
          <a:solidFill>
            <a:srgbClr val="0077BE">
              <a:alpha val="1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9422" y="1549400"/>
            <a:ext cx="107426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68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Bₖ₊₁ = Bₖ - (BₖsₖsₖᵀBₖ)/(sₖᵀBₖsₖ) + (yₖyₖᵀ)/(yₖᵀsₖ)</a:t>
            </a:r>
            <a:endParaRPr lang="en-US" sz="1197" dirty="0"/>
          </a:p>
        </p:txBody>
      </p:sp>
      <p:sp>
        <p:nvSpPr>
          <p:cNvPr id="7" name="Text 5"/>
          <p:cNvSpPr txBox="1"/>
          <p:nvPr/>
        </p:nvSpPr>
        <p:spPr>
          <a:xfrm>
            <a:off x="608076" y="1879600"/>
            <a:ext cx="10945368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Ικανοποιεί τη secant εξίσωση: Bₖ₊₁sₖ = yₖ</a:t>
            </a:r>
            <a:endParaRPr lang="en-US" sz="998" dirty="0"/>
          </a:p>
        </p:txBody>
      </p:sp>
      <p:sp>
        <p:nvSpPr>
          <p:cNvPr id="8" name="Shape 6"/>
          <p:cNvSpPr/>
          <p:nvPr/>
        </p:nvSpPr>
        <p:spPr>
          <a:xfrm>
            <a:off x="608076" y="2159000"/>
            <a:ext cx="5396675" cy="2755900"/>
          </a:xfrm>
          <a:prstGeom prst="roundRect">
            <a:avLst>
              <a:gd name="adj" fmla="val 1223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68B8D9">
                <a:alpha val="3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6429" y="3016250"/>
            <a:ext cx="507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Κλασική BFGS Κατεύθυνση</a:t>
            </a:r>
            <a:endParaRPr lang="en-US" sz="1496" dirty="0"/>
          </a:p>
        </p:txBody>
      </p:sp>
      <p:sp>
        <p:nvSpPr>
          <p:cNvPr id="10" name="Text 8"/>
          <p:cNvSpPr txBox="1"/>
          <p:nvPr/>
        </p:nvSpPr>
        <p:spPr>
          <a:xfrm>
            <a:off x="766429" y="3448050"/>
            <a:ext cx="507996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dirty="0">
                <a:solidFill>
                  <a:srgbClr val="68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dₖ = -Bₖ⁻¹gₖ</a:t>
            </a:r>
            <a:endParaRPr lang="en-US" sz="1795" dirty="0"/>
          </a:p>
        </p:txBody>
      </p:sp>
      <p:sp>
        <p:nvSpPr>
          <p:cNvPr id="11" name="Text 9"/>
          <p:cNvSpPr txBox="1"/>
          <p:nvPr/>
        </p:nvSpPr>
        <p:spPr>
          <a:xfrm>
            <a:off x="766429" y="3905250"/>
            <a:ext cx="50799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Μόνο πληροφορίες από την τρέχουσα Hessian προσέγγιση και κλίση</a:t>
            </a:r>
            <a:endParaRPr lang="en-US" sz="798" dirty="0"/>
          </a:p>
        </p:txBody>
      </p:sp>
      <p:sp>
        <p:nvSpPr>
          <p:cNvPr id="12" name="Shape 10"/>
          <p:cNvSpPr/>
          <p:nvPr/>
        </p:nvSpPr>
        <p:spPr>
          <a:xfrm>
            <a:off x="6156770" y="2159000"/>
            <a:ext cx="5396675" cy="2755900"/>
          </a:xfrm>
          <a:prstGeom prst="roundRect">
            <a:avLst>
              <a:gd name="adj" fmla="val 1223"/>
            </a:avLst>
          </a:prstGeom>
          <a:solidFill>
            <a:srgbClr val="68B8D9"/>
          </a:solidFill>
          <a:ln w="12668">
            <a:solidFill>
              <a:srgbClr val="68B8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1457" y="290195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Υβριδική HBFGS Κατεύθυνση</a:t>
            </a:r>
            <a:endParaRPr lang="en-US" sz="1496" dirty="0"/>
          </a:p>
        </p:txBody>
      </p:sp>
      <p:sp>
        <p:nvSpPr>
          <p:cNvPr id="14" name="Text 12"/>
          <p:cNvSpPr txBox="1"/>
          <p:nvPr/>
        </p:nvSpPr>
        <p:spPr>
          <a:xfrm>
            <a:off x="6321457" y="3333750"/>
            <a:ext cx="506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dirty="0">
                <a:solidFill>
                  <a:schemeClr val="accent5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dₖ = -Bₖ⁻¹gₖ + λₖdₖ₋₁</a:t>
            </a:r>
            <a:endParaRPr lang="en-US" sz="1795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497328" y="3740150"/>
            <a:ext cx="715558" cy="228600"/>
          </a:xfrm>
          <a:prstGeom prst="roundRect">
            <a:avLst>
              <a:gd name="adj" fmla="val 222200000"/>
            </a:avLst>
          </a:prstGeom>
          <a:solidFill>
            <a:srgbClr val="68B8D9">
              <a:alpha val="30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73337" y="3765550"/>
            <a:ext cx="56353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Νέος όρος</a:t>
            </a:r>
            <a:endParaRPr lang="en-US" sz="898" dirty="0"/>
          </a:p>
        </p:txBody>
      </p:sp>
      <p:sp>
        <p:nvSpPr>
          <p:cNvPr id="17" name="Text 15"/>
          <p:cNvSpPr txBox="1"/>
          <p:nvPr/>
        </p:nvSpPr>
        <p:spPr>
          <a:xfrm>
            <a:off x="6321457" y="4019550"/>
            <a:ext cx="5067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Προσθέτει πληροφορίες από την προηγούμενη κατεύθυνση αναζήτησης</a:t>
            </a:r>
            <a:endParaRPr lang="en-US" sz="798" dirty="0"/>
          </a:p>
        </p:txBody>
      </p:sp>
      <p:sp>
        <p:nvSpPr>
          <p:cNvPr id="18" name="Shape 16"/>
          <p:cNvSpPr/>
          <p:nvPr/>
        </p:nvSpPr>
        <p:spPr>
          <a:xfrm>
            <a:off x="608076" y="5016500"/>
            <a:ext cx="10945368" cy="1358900"/>
          </a:xfrm>
          <a:prstGeom prst="roundRect">
            <a:avLst>
              <a:gd name="adj" fmla="val 5031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68B8D9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5756" y="5124450"/>
            <a:ext cx="107300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95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Ορισμός του Συντελεστή λₖ</a:t>
            </a:r>
            <a:endParaRPr lang="en-US" sz="1795" dirty="0"/>
          </a:p>
        </p:txBody>
      </p:sp>
      <p:sp>
        <p:nvSpPr>
          <p:cNvPr id="20" name="Shape 18"/>
          <p:cNvSpPr/>
          <p:nvPr/>
        </p:nvSpPr>
        <p:spPr>
          <a:xfrm>
            <a:off x="715756" y="5480050"/>
            <a:ext cx="10730008" cy="355600"/>
          </a:xfrm>
          <a:prstGeom prst="roundRect">
            <a:avLst>
              <a:gd name="adj" fmla="val 73469"/>
            </a:avLst>
          </a:prstGeom>
          <a:solidFill>
            <a:srgbClr val="68B8D9">
              <a:alpha val="10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7102" y="5556250"/>
            <a:ext cx="105273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68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λₖ = η(gₖᵀgₖ)/(gₖᵀdₖ₋₁)</a:t>
            </a:r>
            <a:endParaRPr lang="en-US" sz="1197" dirty="0"/>
          </a:p>
        </p:txBody>
      </p:sp>
      <p:sp>
        <p:nvSpPr>
          <p:cNvPr id="22" name="Text 20"/>
          <p:cNvSpPr txBox="1"/>
          <p:nvPr/>
        </p:nvSpPr>
        <p:spPr>
          <a:xfrm>
            <a:off x="715756" y="5911850"/>
            <a:ext cx="35091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8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 ∈ (0,1]</a:t>
            </a:r>
            <a:r>
              <a:rPr lang="en-US" sz="7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έλεγχος</a:t>
            </a:r>
            <a:endParaRPr lang="en-US" sz="798" dirty="0"/>
          </a:p>
        </p:txBody>
      </p:sp>
      <p:sp>
        <p:nvSpPr>
          <p:cNvPr id="23" name="Text 21"/>
          <p:cNvSpPr txBox="1"/>
          <p:nvPr/>
        </p:nvSpPr>
        <p:spPr>
          <a:xfrm>
            <a:off x="4326207" y="5911850"/>
            <a:ext cx="35091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8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gₖᵀgₖ</a:t>
            </a:r>
            <a:r>
              <a:rPr lang="en-US" sz="7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νόρμα κλίσης</a:t>
            </a:r>
            <a:endParaRPr lang="en-US" sz="798" dirty="0"/>
          </a:p>
        </p:txBody>
      </p:sp>
      <p:sp>
        <p:nvSpPr>
          <p:cNvPr id="24" name="Text 22"/>
          <p:cNvSpPr txBox="1"/>
          <p:nvPr/>
        </p:nvSpPr>
        <p:spPr>
          <a:xfrm>
            <a:off x="7936659" y="5911850"/>
            <a:ext cx="35091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8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gₖᵀdₖ₋₁</a:t>
            </a:r>
            <a:r>
              <a:rPr lang="en-US" sz="7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εσωτ. γινόμενο</a:t>
            </a:r>
            <a:endParaRPr lang="en-US" sz="798" dirty="0"/>
          </a:p>
        </p:txBody>
      </p:sp>
      <p:sp>
        <p:nvSpPr>
          <p:cNvPr id="25" name="Text 23"/>
          <p:cNvSpPr txBox="1"/>
          <p:nvPr/>
        </p:nvSpPr>
        <p:spPr>
          <a:xfrm>
            <a:off x="715756" y="6115050"/>
            <a:ext cx="107300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8" i="1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Για k=0: d₀ = -g₀ (steepest descent)</a:t>
            </a:r>
            <a:endParaRPr lang="en-US" sz="798" dirty="0"/>
          </a:p>
        </p:txBody>
      </p:sp>
      <p:sp>
        <p:nvSpPr>
          <p:cNvPr id="26" name="Text 24"/>
          <p:cNvSpPr txBox="1"/>
          <p:nvPr/>
        </p:nvSpPr>
        <p:spPr>
          <a:xfrm>
            <a:off x="304038" y="6578600"/>
            <a:ext cx="194517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HBFGS Method | Ibrahim &amp; Mamat, 2014</a:t>
            </a:r>
            <a:endParaRPr lang="en-US" sz="898" dirty="0"/>
          </a:p>
        </p:txBody>
      </p:sp>
      <p:sp>
        <p:nvSpPr>
          <p:cNvPr id="27" name="Text 25"/>
          <p:cNvSpPr txBox="1"/>
          <p:nvPr/>
        </p:nvSpPr>
        <p:spPr>
          <a:xfrm>
            <a:off x="11800475" y="6578600"/>
            <a:ext cx="57007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89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540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Μαθηματική Ανάπτυξη II</a:t>
            </a:r>
            <a:endParaRPr lang="en-US" sz="2993" dirty="0"/>
          </a:p>
        </p:txBody>
      </p:sp>
      <p:sp>
        <p:nvSpPr>
          <p:cNvPr id="3" name="Text 1"/>
          <p:cNvSpPr txBox="1"/>
          <p:nvPr/>
        </p:nvSpPr>
        <p:spPr>
          <a:xfrm>
            <a:off x="0" y="7112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Length, Συνθήκες Καταβάσεως και Ολική Σύγκλιση</a:t>
            </a:r>
            <a:endParaRPr lang="en-US" sz="1496" dirty="0"/>
          </a:p>
        </p:txBody>
      </p:sp>
      <p:sp>
        <p:nvSpPr>
          <p:cNvPr id="4" name="Shape 2"/>
          <p:cNvSpPr/>
          <p:nvPr/>
        </p:nvSpPr>
        <p:spPr>
          <a:xfrm>
            <a:off x="506730" y="1295400"/>
            <a:ext cx="4398357" cy="1193800"/>
          </a:xfrm>
          <a:prstGeom prst="roundRect">
            <a:avLst>
              <a:gd name="adj" fmla="val 6519"/>
            </a:avLst>
          </a:prstGeom>
          <a:solidFill>
            <a:srgbClr val="0077BE">
              <a:alpha val="1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33413" y="1422400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Ενημέρωση Θέσης</a:t>
            </a:r>
            <a:endParaRPr lang="en-US" sz="1496" dirty="0"/>
          </a:p>
        </p:txBody>
      </p:sp>
      <p:sp>
        <p:nvSpPr>
          <p:cNvPr id="6" name="Text 4"/>
          <p:cNvSpPr txBox="1"/>
          <p:nvPr/>
        </p:nvSpPr>
        <p:spPr>
          <a:xfrm>
            <a:off x="633413" y="1828800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68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xₖ₊₁ = xₖ + αₖdₖ</a:t>
            </a:r>
            <a:endParaRPr lang="en-US" sz="1496" dirty="0"/>
          </a:p>
        </p:txBody>
      </p:sp>
      <p:sp>
        <p:nvSpPr>
          <p:cNvPr id="7" name="Text 5"/>
          <p:cNvSpPr txBox="1"/>
          <p:nvPr/>
        </p:nvSpPr>
        <p:spPr>
          <a:xfrm>
            <a:off x="633413" y="2159000"/>
            <a:ext cx="41449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αₖ &gt; 0: μήκος βήματος</a:t>
            </a:r>
            <a:endParaRPr lang="en-US" sz="1197" dirty="0"/>
          </a:p>
        </p:txBody>
      </p:sp>
      <p:sp>
        <p:nvSpPr>
          <p:cNvPr id="8" name="Shape 6"/>
          <p:cNvSpPr/>
          <p:nvPr/>
        </p:nvSpPr>
        <p:spPr>
          <a:xfrm>
            <a:off x="537210" y="2590800"/>
            <a:ext cx="4398357" cy="1358900"/>
          </a:xfrm>
          <a:prstGeom prst="roundRect">
            <a:avLst>
              <a:gd name="adj" fmla="val 5031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68B8D9">
                <a:alpha val="3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47" y="2724150"/>
            <a:ext cx="41323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Armijo Line Search (Εξ. 7)</a:t>
            </a:r>
            <a:endParaRPr lang="en-US" sz="1496" dirty="0"/>
          </a:p>
        </p:txBody>
      </p:sp>
      <p:sp>
        <p:nvSpPr>
          <p:cNvPr id="10" name="Shape 8"/>
          <p:cNvSpPr/>
          <p:nvPr/>
        </p:nvSpPr>
        <p:spPr>
          <a:xfrm>
            <a:off x="639747" y="3028950"/>
            <a:ext cx="4132324" cy="355600"/>
          </a:xfrm>
          <a:prstGeom prst="roundRect">
            <a:avLst>
              <a:gd name="adj" fmla="val 36735"/>
            </a:avLst>
          </a:prstGeom>
          <a:solidFill>
            <a:srgbClr val="68B8D9">
              <a:alpha val="1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9747" y="3105150"/>
            <a:ext cx="413232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68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f(xₖ) - f(xₖ + αₖdₖ) ≥ -σαₖgₖᵀdₖ</a:t>
            </a:r>
            <a:endParaRPr lang="en-US" sz="1197" dirty="0"/>
          </a:p>
        </p:txBody>
      </p:sp>
      <p:sp>
        <p:nvSpPr>
          <p:cNvPr id="12" name="Text 10"/>
          <p:cNvSpPr txBox="1"/>
          <p:nvPr/>
        </p:nvSpPr>
        <p:spPr>
          <a:xfrm>
            <a:off x="639747" y="3435350"/>
            <a:ext cx="413232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Εξασφαλίζει επαρκή μείωση της f</a:t>
            </a:r>
            <a:endParaRPr lang="en-US" sz="998" dirty="0"/>
          </a:p>
        </p:txBody>
      </p:sp>
      <p:sp>
        <p:nvSpPr>
          <p:cNvPr id="13" name="Text 11"/>
          <p:cNvSpPr txBox="1"/>
          <p:nvPr/>
        </p:nvSpPr>
        <p:spPr>
          <a:xfrm>
            <a:off x="639747" y="3638550"/>
            <a:ext cx="413232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∈ (0,1)</a:t>
            </a: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: σταθερά (π.χ. 0.1)</a:t>
            </a:r>
            <a:endParaRPr lang="en-US" sz="998" dirty="0"/>
          </a:p>
        </p:txBody>
      </p:sp>
      <p:sp>
        <p:nvSpPr>
          <p:cNvPr id="14" name="Shape 12"/>
          <p:cNvSpPr/>
          <p:nvPr/>
        </p:nvSpPr>
        <p:spPr>
          <a:xfrm>
            <a:off x="506730" y="4051300"/>
            <a:ext cx="4398357" cy="2222500"/>
          </a:xfrm>
          <a:prstGeom prst="roundRect">
            <a:avLst>
              <a:gd name="adj" fmla="val 1881"/>
            </a:avLst>
          </a:prstGeom>
          <a:solidFill>
            <a:srgbClr val="68B8D9"/>
          </a:solidFill>
          <a:ln w="6334">
            <a:solidFill>
              <a:srgbClr val="68B8D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15" name="Text 13"/>
          <p:cNvSpPr txBox="1"/>
          <p:nvPr/>
        </p:nvSpPr>
        <p:spPr>
          <a:xfrm>
            <a:off x="639747" y="4184650"/>
            <a:ext cx="41323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chemeClr val="accent5">
                    <a:lumMod val="75000"/>
                  </a:scheme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Συνθήκες Καταβάσεως</a:t>
            </a:r>
            <a:endParaRPr lang="en-US" sz="1496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39747" y="4514850"/>
            <a:ext cx="413232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chemeClr val="accent5">
                    <a:lumMod val="75000"/>
                  </a:scheme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Κατάβαση (Descent)</a:t>
            </a:r>
            <a:endParaRPr lang="en-US" sz="1197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39747" y="4845050"/>
            <a:ext cx="413232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gₖᵀdₖ &lt; 0</a:t>
            </a:r>
            <a:endParaRPr lang="en-US" sz="1197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9747" y="5226050"/>
            <a:ext cx="4132324" cy="920750"/>
          </a:xfrm>
          <a:prstGeom prst="rect">
            <a:avLst/>
          </a:prstGeom>
          <a:noFill/>
          <a:ln w="6334">
            <a:solidFill>
              <a:srgbClr val="68B8D9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9747" y="5308600"/>
            <a:ext cx="413232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chemeClr val="accent5">
                    <a:lumMod val="75000"/>
                  </a:scheme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Επαρκής Κατάβαση</a:t>
            </a:r>
            <a:endParaRPr lang="en-US" sz="1197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39747" y="5638800"/>
            <a:ext cx="413232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gₖᵀdₖ ≤ -c||gₖ||²</a:t>
            </a:r>
            <a:endParaRPr lang="en-US" sz="1197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39747" y="5969000"/>
            <a:ext cx="413232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 &gt; 0: σταθερά</a:t>
            </a:r>
            <a:endParaRPr lang="en-US" sz="998" dirty="0"/>
          </a:p>
        </p:txBody>
      </p:sp>
      <p:sp>
        <p:nvSpPr>
          <p:cNvPr id="22" name="Shape 20"/>
          <p:cNvSpPr/>
          <p:nvPr/>
        </p:nvSpPr>
        <p:spPr>
          <a:xfrm>
            <a:off x="5057106" y="1295400"/>
            <a:ext cx="6597684" cy="1295400"/>
          </a:xfrm>
          <a:prstGeom prst="roundRect">
            <a:avLst>
              <a:gd name="adj" fmla="val 5536"/>
            </a:avLst>
          </a:prstGeom>
          <a:solidFill>
            <a:srgbClr val="0077BE">
              <a:alpha val="10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183789" y="1422400"/>
            <a:ext cx="63443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Υποθέσεις για Ολική Σύγκλιση (Assumption 3.1)</a:t>
            </a:r>
            <a:endParaRPr lang="en-US" sz="1496" dirty="0"/>
          </a:p>
        </p:txBody>
      </p:sp>
      <p:sp>
        <p:nvSpPr>
          <p:cNvPr id="24" name="Text 22"/>
          <p:cNvSpPr txBox="1"/>
          <p:nvPr/>
        </p:nvSpPr>
        <p:spPr>
          <a:xfrm>
            <a:off x="5183789" y="1752600"/>
            <a:ext cx="634431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68B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H1:</a:t>
            </a: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f δύο φορές συνεχώς παραγωγίσιμη</a:t>
            </a:r>
            <a:endParaRPr lang="en-US" sz="1197" dirty="0"/>
          </a:p>
        </p:txBody>
      </p:sp>
      <p:sp>
        <p:nvSpPr>
          <p:cNvPr id="25" name="Text 23"/>
          <p:cNvSpPr txBox="1"/>
          <p:nvPr/>
        </p:nvSpPr>
        <p:spPr>
          <a:xfrm>
            <a:off x="5183789" y="2006600"/>
            <a:ext cx="634431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68B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H2:</a:t>
            </a: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Το level set είναι κυρτό, G(x) φραγμένη</a:t>
            </a:r>
            <a:endParaRPr lang="en-US" sz="1197" dirty="0"/>
          </a:p>
        </p:txBody>
      </p:sp>
      <p:sp>
        <p:nvSpPr>
          <p:cNvPr id="26" name="Text 24"/>
          <p:cNvSpPr txBox="1"/>
          <p:nvPr/>
        </p:nvSpPr>
        <p:spPr>
          <a:xfrm>
            <a:off x="5183789" y="2260600"/>
            <a:ext cx="634431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68B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H3:</a:t>
            </a: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Η Hessian είναι Lipschitz συνεχής κοντά στο x*</a:t>
            </a:r>
            <a:endParaRPr lang="en-US" sz="1197" dirty="0"/>
          </a:p>
        </p:txBody>
      </p:sp>
      <p:sp>
        <p:nvSpPr>
          <p:cNvPr id="27" name="Shape 25"/>
          <p:cNvSpPr/>
          <p:nvPr/>
        </p:nvSpPr>
        <p:spPr>
          <a:xfrm>
            <a:off x="5057106" y="2692400"/>
            <a:ext cx="6597684" cy="1485900"/>
          </a:xfrm>
          <a:prstGeom prst="roundRect">
            <a:avLst>
              <a:gd name="adj" fmla="val 4208"/>
            </a:avLst>
          </a:prstGeom>
          <a:solidFill>
            <a:srgbClr val="68B8D9">
              <a:alpha val="10000"/>
            </a:srgbClr>
          </a:solidFill>
          <a:ln w="6334">
            <a:solidFill>
              <a:srgbClr val="68B8D9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90123" y="2832100"/>
            <a:ext cx="11822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Θεώρημα 3.2</a:t>
            </a:r>
            <a:endParaRPr lang="en-US" sz="1496" dirty="0"/>
          </a:p>
        </p:txBody>
      </p:sp>
      <p:sp>
        <p:nvSpPr>
          <p:cNvPr id="29" name="Text 27"/>
          <p:cNvSpPr txBox="1"/>
          <p:nvPr/>
        </p:nvSpPr>
        <p:spPr>
          <a:xfrm>
            <a:off x="6448337" y="2832100"/>
            <a:ext cx="15280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Επαρκής Κατάβαση</a:t>
            </a:r>
            <a:endParaRPr lang="en-US" sz="1496" dirty="0"/>
          </a:p>
        </p:txBody>
      </p:sp>
      <p:sp>
        <p:nvSpPr>
          <p:cNvPr id="30" name="Text 28"/>
          <p:cNvSpPr txBox="1"/>
          <p:nvPr/>
        </p:nvSpPr>
        <p:spPr>
          <a:xfrm>
            <a:off x="5190123" y="3130550"/>
            <a:ext cx="633165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Η κατεύθυνση dₖ ικανοποιεί:</a:t>
            </a:r>
            <a:endParaRPr lang="en-US" sz="1197" dirty="0"/>
          </a:p>
        </p:txBody>
      </p:sp>
      <p:sp>
        <p:nvSpPr>
          <p:cNvPr id="31" name="Shape 29"/>
          <p:cNvSpPr/>
          <p:nvPr/>
        </p:nvSpPr>
        <p:spPr>
          <a:xfrm>
            <a:off x="5190123" y="3409950"/>
            <a:ext cx="6331651" cy="406400"/>
          </a:xfrm>
          <a:prstGeom prst="roundRect">
            <a:avLst>
              <a:gd name="adj" fmla="val 28125"/>
            </a:avLst>
          </a:prstGeom>
          <a:solidFill>
            <a:srgbClr val="68B8D9">
              <a:alpha val="20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190123" y="3511550"/>
            <a:ext cx="633165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dirty="0">
                <a:solidFill>
                  <a:srgbClr val="68B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gₖᵀdₖ ≤ -(δₖ + η)||gₖ||²</a:t>
            </a:r>
            <a:endParaRPr lang="en-US" sz="1197" dirty="0"/>
          </a:p>
        </p:txBody>
      </p:sp>
      <p:sp>
        <p:nvSpPr>
          <p:cNvPr id="33" name="Text 31"/>
          <p:cNvSpPr txBox="1"/>
          <p:nvPr/>
        </p:nvSpPr>
        <p:spPr>
          <a:xfrm>
            <a:off x="5190123" y="3867150"/>
            <a:ext cx="633165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όπου δₖ σχετίζεται με το Bₖ⁻¹</a:t>
            </a:r>
            <a:endParaRPr lang="en-US" sz="998" dirty="0"/>
          </a:p>
        </p:txBody>
      </p:sp>
      <p:sp>
        <p:nvSpPr>
          <p:cNvPr id="34" name="Shape 32"/>
          <p:cNvSpPr/>
          <p:nvPr/>
        </p:nvSpPr>
        <p:spPr>
          <a:xfrm>
            <a:off x="5057106" y="4279900"/>
            <a:ext cx="6597684" cy="1993900"/>
          </a:xfrm>
          <a:prstGeom prst="roundRect">
            <a:avLst>
              <a:gd name="adj" fmla="val 2337"/>
            </a:avLst>
          </a:prstGeom>
          <a:solidFill>
            <a:srgbClr val="68B8D9"/>
          </a:solidFill>
          <a:ln w="12668">
            <a:solidFill>
              <a:srgbClr val="68B8D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96457" y="4425950"/>
            <a:ext cx="11822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chemeClr val="accent5">
                    <a:lumMod val="75000"/>
                  </a:scheme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Θεώρημα 3.3</a:t>
            </a:r>
            <a:endParaRPr lang="en-US" sz="1496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454671" y="4425950"/>
            <a:ext cx="12480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Ολική Σύγκλιση</a:t>
            </a:r>
            <a:endParaRPr lang="en-US" sz="1496" dirty="0"/>
          </a:p>
        </p:txBody>
      </p:sp>
      <p:sp>
        <p:nvSpPr>
          <p:cNvPr id="37" name="Text 35"/>
          <p:cNvSpPr txBox="1"/>
          <p:nvPr/>
        </p:nvSpPr>
        <p:spPr>
          <a:xfrm>
            <a:off x="5196457" y="4724400"/>
            <a:ext cx="631898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Υπό τις παραπάνω υποθέσεις:</a:t>
            </a:r>
            <a:endParaRPr lang="en-US" sz="1197" dirty="0"/>
          </a:p>
        </p:txBody>
      </p:sp>
      <p:sp>
        <p:nvSpPr>
          <p:cNvPr id="38" name="Shape 36"/>
          <p:cNvSpPr/>
          <p:nvPr/>
        </p:nvSpPr>
        <p:spPr>
          <a:xfrm>
            <a:off x="5196457" y="5003800"/>
            <a:ext cx="6318982" cy="482600"/>
          </a:xfrm>
          <a:prstGeom prst="roundRect">
            <a:avLst>
              <a:gd name="adj" fmla="val 19945"/>
            </a:avLst>
          </a:prstGeom>
          <a:solidFill>
            <a:srgbClr val="68B8D9">
              <a:alpha val="20000"/>
            </a:srgbClr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196457" y="5130800"/>
            <a:ext cx="6318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 (k→∞) ||gₖ|| = 0</a:t>
            </a:r>
            <a:endParaRPr lang="en-US" sz="1496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5196457" y="5562600"/>
            <a:ext cx="631898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Το HBFGS συγκλίνει σε στάσιμο σημείο από οποιοδήποτε αρχικό σημείο</a:t>
            </a:r>
            <a:endParaRPr lang="en-US" sz="1197" dirty="0"/>
          </a:p>
        </p:txBody>
      </p:sp>
      <p:sp>
        <p:nvSpPr>
          <p:cNvPr id="41" name="Text 39"/>
          <p:cNvSpPr txBox="1"/>
          <p:nvPr/>
        </p:nvSpPr>
        <p:spPr>
          <a:xfrm>
            <a:off x="304038" y="6527800"/>
            <a:ext cx="216132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HBFGS Method | Ibrahim &amp; Mamat, 2014</a:t>
            </a:r>
            <a:endParaRPr lang="en-US" sz="998" dirty="0"/>
          </a:p>
        </p:txBody>
      </p:sp>
      <p:sp>
        <p:nvSpPr>
          <p:cNvPr id="42" name="Text 40"/>
          <p:cNvSpPr txBox="1"/>
          <p:nvPr/>
        </p:nvSpPr>
        <p:spPr>
          <a:xfrm>
            <a:off x="11794141" y="6527800"/>
            <a:ext cx="6334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99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540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Performance Profiles - </a:t>
            </a:r>
            <a:r>
              <a:rPr lang="el-GR" sz="3200" dirty="0">
                <a:solidFill>
                  <a:schemeClr val="bg1"/>
                </a:solidFill>
              </a:rPr>
              <a:t>Λεπτομερής Ανάλυση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0" y="7112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l-GR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Ανάλυση </a:t>
            </a: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Iterations, CPU Time, Figures (1), (2)</a:t>
            </a:r>
            <a:endParaRPr lang="en-US" sz="1496" dirty="0"/>
          </a:p>
        </p:txBody>
      </p:sp>
      <p:sp>
        <p:nvSpPr>
          <p:cNvPr id="6" name="Text 4"/>
          <p:cNvSpPr txBox="1"/>
          <p:nvPr/>
        </p:nvSpPr>
        <p:spPr>
          <a:xfrm>
            <a:off x="633413" y="1828800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96" dirty="0"/>
          </a:p>
        </p:txBody>
      </p:sp>
      <p:sp>
        <p:nvSpPr>
          <p:cNvPr id="8" name="Shape 6"/>
          <p:cNvSpPr/>
          <p:nvPr/>
        </p:nvSpPr>
        <p:spPr>
          <a:xfrm>
            <a:off x="537210" y="1117600"/>
            <a:ext cx="4398357" cy="5105400"/>
          </a:xfrm>
          <a:prstGeom prst="roundRect">
            <a:avLst>
              <a:gd name="adj" fmla="val 5031"/>
            </a:avLst>
          </a:prstGeom>
          <a:solidFill>
            <a:srgbClr val="0077BE">
              <a:alpha val="10000"/>
            </a:srgbClr>
          </a:solidFill>
          <a:ln w="6334">
            <a:solidFill>
              <a:srgbClr val="68B8D9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el-GR" sz="2000" dirty="0">
                <a:solidFill>
                  <a:schemeClr val="accent5"/>
                </a:solidFill>
              </a:rPr>
              <a:t>Τι είναι τα Performance Profiles </a:t>
            </a:r>
            <a:endParaRPr lang="en-US" sz="2000" dirty="0">
              <a:solidFill>
                <a:schemeClr val="accent5"/>
              </a:solidFill>
            </a:endParaRPr>
          </a:p>
          <a:p>
            <a:r>
              <a:rPr lang="el-GR" sz="2000" dirty="0">
                <a:solidFill>
                  <a:schemeClr val="accent5"/>
                </a:solidFill>
              </a:rPr>
              <a:t>(Dolan &amp; Moré, 2002)</a:t>
            </a:r>
            <a:endParaRPr lang="en-US" sz="2000" dirty="0">
              <a:solidFill>
                <a:schemeClr val="accent5"/>
              </a:solidFill>
            </a:endParaRPr>
          </a:p>
          <a:p>
            <a:endParaRPr lang="el-GR" dirty="0">
              <a:solidFill>
                <a:schemeClr val="accent5"/>
              </a:solidFill>
            </a:endParaRPr>
          </a:p>
          <a:p>
            <a:r>
              <a:rPr lang="el-GR" dirty="0">
                <a:solidFill>
                  <a:schemeClr val="accent5"/>
                </a:solidFill>
              </a:rPr>
              <a:t>• Μέθοδος σύγκρισης αλγορίθμων σε μεγάλο σύνολο προβλημάτων</a:t>
            </a:r>
          </a:p>
          <a:p>
            <a:r>
              <a:rPr lang="el-GR" dirty="0">
                <a:solidFill>
                  <a:schemeClr val="accent5"/>
                </a:solidFill>
              </a:rPr>
              <a:t>• Ορισμός: ρₚ,ₛ = tₚ,ₛ / min{tₚ,ₛ : s ∈ S}</a:t>
            </a:r>
          </a:p>
          <a:p>
            <a:r>
              <a:rPr lang="el-GR" dirty="0">
                <a:solidFill>
                  <a:schemeClr val="accent5"/>
                </a:solidFill>
              </a:rPr>
              <a:t>  - tₚ,ₛ: χρόνος/επαναλήψεις για solver s στο πρόβλημα p</a:t>
            </a:r>
          </a:p>
          <a:p>
            <a:endParaRPr lang="el-GR" dirty="0"/>
          </a:p>
        </p:txBody>
      </p:sp>
      <p:sp>
        <p:nvSpPr>
          <p:cNvPr id="27" name="Shape 25"/>
          <p:cNvSpPr/>
          <p:nvPr/>
        </p:nvSpPr>
        <p:spPr>
          <a:xfrm>
            <a:off x="5057106" y="1117600"/>
            <a:ext cx="6597684" cy="5105400"/>
          </a:xfrm>
          <a:prstGeom prst="roundRect">
            <a:avLst>
              <a:gd name="adj" fmla="val 4208"/>
            </a:avLst>
          </a:prstGeom>
          <a:solidFill>
            <a:srgbClr val="68B8D9">
              <a:alpha val="10000"/>
            </a:srgbClr>
          </a:solidFill>
          <a:ln w="6334">
            <a:solidFill>
              <a:srgbClr val="68B8D9">
                <a:alpha val="40000"/>
              </a:srgbClr>
            </a:solidFill>
            <a:prstDash val="solid"/>
          </a:ln>
        </p:spPr>
        <p:txBody>
          <a:bodyPr/>
          <a:lstStyle/>
          <a:p>
            <a:r>
              <a:rPr lang="el-GR" dirty="0">
                <a:solidFill>
                  <a:schemeClr val="accent5"/>
                </a:solidFill>
              </a:rPr>
              <a:t>Ανάλυση Figure 1 (Iterations)</a:t>
            </a:r>
          </a:p>
          <a:p>
            <a:r>
              <a:rPr lang="el-GR" dirty="0">
                <a:solidFill>
                  <a:schemeClr val="accent5"/>
                </a:solidFill>
              </a:rPr>
              <a:t>• HBFGS: Καμπύλη ψηλότερα και αριστερότερα → λιγότερες επαναλήψεις</a:t>
            </a:r>
          </a:p>
          <a:p>
            <a:r>
              <a:rPr lang="el-GR" dirty="0">
                <a:solidFill>
                  <a:schemeClr val="accent5"/>
                </a:solidFill>
              </a:rPr>
              <a:t>• Για τα περισσότερα προβλήματα, το HBFGS είναι 1.5-2x ταχύτερο</a:t>
            </a:r>
          </a:p>
          <a:p>
            <a:endParaRPr lang="en-US" dirty="0"/>
          </a:p>
          <a:p>
            <a:r>
              <a:rPr lang="el-GR" dirty="0">
                <a:solidFill>
                  <a:schemeClr val="accent5"/>
                </a:solidFill>
              </a:rPr>
              <a:t>Ανάλυση Figure 2 (CPU Time)</a:t>
            </a:r>
          </a:p>
          <a:p>
            <a:r>
              <a:rPr lang="el-GR" dirty="0">
                <a:solidFill>
                  <a:schemeClr val="accent5"/>
                </a:solidFill>
              </a:rPr>
              <a:t>• Παρόμοια συμπεριφορά με τις επαναλήψεις</a:t>
            </a:r>
          </a:p>
          <a:p>
            <a:r>
              <a:rPr lang="el-GR" dirty="0">
                <a:solidFill>
                  <a:schemeClr val="accent5"/>
                </a:solidFill>
              </a:rPr>
              <a:t>• HBFGS επιλύει 95.5% των προβλημάτων επιτυχώς vs 86.6% για BFGS</a:t>
            </a:r>
          </a:p>
          <a:p>
            <a:endParaRPr lang="el-GR" dirty="0"/>
          </a:p>
        </p:txBody>
      </p:sp>
      <p:sp>
        <p:nvSpPr>
          <p:cNvPr id="41" name="Text 39"/>
          <p:cNvSpPr txBox="1"/>
          <p:nvPr/>
        </p:nvSpPr>
        <p:spPr>
          <a:xfrm>
            <a:off x="304038" y="6527800"/>
            <a:ext cx="216132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HBFGS Method | Ibrahim &amp; Mamat, 2014</a:t>
            </a:r>
            <a:endParaRPr lang="en-US" sz="998" dirty="0"/>
          </a:p>
        </p:txBody>
      </p:sp>
      <p:sp>
        <p:nvSpPr>
          <p:cNvPr id="42" name="Text 40"/>
          <p:cNvSpPr txBox="1"/>
          <p:nvPr/>
        </p:nvSpPr>
        <p:spPr>
          <a:xfrm>
            <a:off x="11794141" y="6527800"/>
            <a:ext cx="6334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l-GR" sz="998" dirty="0">
                <a:solidFill>
                  <a:srgbClr val="F0F8FF"/>
                </a:solidFill>
                <a:latin typeface="Palatino Linotype" pitchFamily="34" charset="0"/>
              </a:rPr>
              <a:t>7</a:t>
            </a:r>
            <a:endParaRPr lang="en-US" sz="998" dirty="0"/>
          </a:p>
        </p:txBody>
      </p:sp>
    </p:spTree>
    <p:extLst>
      <p:ext uri="{BB962C8B-B14F-4D97-AF65-F5344CB8AC3E}">
        <p14:creationId xmlns:p14="http://schemas.microsoft.com/office/powerpoint/2010/main" val="2265331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540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l-GR" sz="2993" b="1" dirty="0">
                <a:solidFill>
                  <a:srgbClr val="F0F8FF"/>
                </a:solidFill>
                <a:latin typeface="Segoe UI Semibold" pitchFamily="34" charset="0"/>
                <a:cs typeface="Segoe UI Semibold" pitchFamily="34" charset="-120"/>
              </a:rPr>
              <a:t>Συγκριτικός Πίνακας </a:t>
            </a:r>
            <a:r>
              <a:rPr lang="en-US" sz="2993" b="1" dirty="0">
                <a:solidFill>
                  <a:srgbClr val="F0F8FF"/>
                </a:solidFill>
                <a:latin typeface="Segoe UI Semibold" pitchFamily="34" charset="0"/>
                <a:cs typeface="Segoe UI Semibold" pitchFamily="34" charset="-120"/>
              </a:rPr>
              <a:t>HBFGS/BFGS</a:t>
            </a:r>
            <a:endParaRPr lang="en-US" sz="2993" dirty="0"/>
          </a:p>
        </p:txBody>
      </p:sp>
      <p:sp>
        <p:nvSpPr>
          <p:cNvPr id="4" name="Shape 2"/>
          <p:cNvSpPr/>
          <p:nvPr/>
        </p:nvSpPr>
        <p:spPr>
          <a:xfrm>
            <a:off x="506730" y="1295400"/>
            <a:ext cx="4398357" cy="4978400"/>
          </a:xfrm>
          <a:prstGeom prst="roundRect">
            <a:avLst>
              <a:gd name="adj" fmla="val 6519"/>
            </a:avLst>
          </a:prstGeom>
          <a:solidFill>
            <a:srgbClr val="0077BE">
              <a:alpha val="1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35768" y="1364103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HBFGS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33412" y="1846703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Rosenbrock Function(n = 100): 487 iterations</a:t>
            </a:r>
          </a:p>
        </p:txBody>
      </p:sp>
      <p:sp>
        <p:nvSpPr>
          <p:cNvPr id="34" name="Shape 32"/>
          <p:cNvSpPr/>
          <p:nvPr/>
        </p:nvSpPr>
        <p:spPr>
          <a:xfrm>
            <a:off x="5057106" y="1295400"/>
            <a:ext cx="6597684" cy="4978400"/>
          </a:xfrm>
          <a:prstGeom prst="roundRect">
            <a:avLst>
              <a:gd name="adj" fmla="val 2337"/>
            </a:avLst>
          </a:prstGeom>
          <a:solidFill>
            <a:srgbClr val="68B8D9"/>
          </a:solidFill>
          <a:ln w="12668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37" name="Text 35"/>
          <p:cNvSpPr txBox="1"/>
          <p:nvPr/>
        </p:nvSpPr>
        <p:spPr>
          <a:xfrm>
            <a:off x="4016587" y="654050"/>
            <a:ext cx="631898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l-GR" dirty="0">
                <a:solidFill>
                  <a:schemeClr val="bg1"/>
                </a:solidFill>
                <a:latin typeface="Palatino Linotype" panose="02040502050505030304" pitchFamily="18" charset="0"/>
              </a:rPr>
              <a:t>Επιλεγμένα Test Functions από το Paper</a:t>
            </a:r>
          </a:p>
        </p:txBody>
      </p:sp>
      <p:sp>
        <p:nvSpPr>
          <p:cNvPr id="38" name="Shape 36"/>
          <p:cNvSpPr/>
          <p:nvPr/>
        </p:nvSpPr>
        <p:spPr>
          <a:xfrm>
            <a:off x="2922871" y="4884363"/>
            <a:ext cx="7728889" cy="1071203"/>
          </a:xfrm>
          <a:prstGeom prst="roundRect">
            <a:avLst>
              <a:gd name="adj" fmla="val 19945"/>
            </a:avLst>
          </a:prstGeom>
          <a:solidFill>
            <a:srgbClr val="68B8D9">
              <a:alpha val="20000"/>
            </a:srgbClr>
          </a:solidFill>
          <a:ln/>
        </p:spPr>
        <p:txBody>
          <a:bodyPr/>
          <a:lstStyle/>
          <a:p>
            <a:r>
              <a:rPr lang="el-GR" dirty="0">
                <a:solidFill>
                  <a:schemeClr val="bg1"/>
                </a:solidFill>
              </a:rPr>
              <a:t>• Σε όλα τα test problems, το HBFGS υπερτερεί κατά 60-70%</a:t>
            </a:r>
          </a:p>
          <a:p>
            <a:r>
              <a:rPr lang="el-GR" dirty="0">
                <a:solidFill>
                  <a:schemeClr val="bg1"/>
                </a:solidFill>
              </a:rPr>
              <a:t>• Ιδιαίτερα αποδοτικό σε large-scale προβλήματα (n &gt; 100)</a:t>
            </a:r>
          </a:p>
          <a:p>
            <a:endParaRPr lang="el-GR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4597263" y="4556365"/>
            <a:ext cx="631898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l-GR" sz="2400" dirty="0">
                <a:solidFill>
                  <a:srgbClr val="F0F8FF"/>
                </a:solidFill>
                <a:latin typeface="Palatino Linotype" pitchFamily="34" charset="0"/>
              </a:rPr>
              <a:t>Κύριο Συμπέρασμα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304038" y="6527800"/>
            <a:ext cx="216132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HBFGS Method | Ibrahim &amp; Mamat, 2014</a:t>
            </a:r>
            <a:endParaRPr lang="en-US" sz="998" dirty="0"/>
          </a:p>
        </p:txBody>
      </p:sp>
      <p:sp>
        <p:nvSpPr>
          <p:cNvPr id="42" name="Text 40"/>
          <p:cNvSpPr txBox="1"/>
          <p:nvPr/>
        </p:nvSpPr>
        <p:spPr>
          <a:xfrm>
            <a:off x="11794141" y="6527800"/>
            <a:ext cx="15795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l-GR" sz="998" dirty="0">
                <a:solidFill>
                  <a:srgbClr val="F0F8FF"/>
                </a:solidFill>
                <a:latin typeface="Palatino Linotype" pitchFamily="34" charset="0"/>
              </a:rPr>
              <a:t>8</a:t>
            </a:r>
            <a:endParaRPr lang="en-US" sz="998" dirty="0"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33FBC6F9-8F4C-48EF-908E-817DC0267ACC}"/>
              </a:ext>
            </a:extLst>
          </p:cNvPr>
          <p:cNvSpPr txBox="1"/>
          <p:nvPr/>
        </p:nvSpPr>
        <p:spPr>
          <a:xfrm>
            <a:off x="7865873" y="1429815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BFGS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B8D3E15F-6D7E-438E-BFD4-04CB9EF29912}"/>
              </a:ext>
            </a:extLst>
          </p:cNvPr>
          <p:cNvSpPr txBox="1"/>
          <p:nvPr/>
        </p:nvSpPr>
        <p:spPr>
          <a:xfrm>
            <a:off x="5263423" y="1845023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Rosenbrock Function: 1,245 iterations</a:t>
            </a:r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9E1B7E85-4A05-4675-9E76-91503C4F244B}"/>
              </a:ext>
            </a:extLst>
          </p:cNvPr>
          <p:cNvSpPr txBox="1"/>
          <p:nvPr/>
        </p:nvSpPr>
        <p:spPr>
          <a:xfrm>
            <a:off x="633412" y="2340651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Extended Powell Function(n = 1000): 1234 iterations</a:t>
            </a:r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83CC6CB7-7C2D-48F6-8DB4-F9A2FB79B483}"/>
              </a:ext>
            </a:extLst>
          </p:cNvPr>
          <p:cNvSpPr txBox="1"/>
          <p:nvPr/>
        </p:nvSpPr>
        <p:spPr>
          <a:xfrm>
            <a:off x="633412" y="2895026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Generalized Quartic Function(n = 500): 823 iterations</a:t>
            </a:r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4489D0A4-24D0-4AC0-B8A4-0FBFDD892AAD}"/>
              </a:ext>
            </a:extLst>
          </p:cNvPr>
          <p:cNvSpPr txBox="1"/>
          <p:nvPr/>
        </p:nvSpPr>
        <p:spPr>
          <a:xfrm>
            <a:off x="5263423" y="2340651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Extended Powell Function(n = 1000): 3892 iterations</a:t>
            </a:r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B63F037E-A741-4F4F-9405-6FD6529682E6}"/>
              </a:ext>
            </a:extLst>
          </p:cNvPr>
          <p:cNvSpPr txBox="1"/>
          <p:nvPr/>
        </p:nvSpPr>
        <p:spPr>
          <a:xfrm>
            <a:off x="5263423" y="2893101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Generalized Quartic Function(n = 500): 2156 iterations</a:t>
            </a:r>
          </a:p>
        </p:txBody>
      </p:sp>
      <p:sp>
        <p:nvSpPr>
          <p:cNvPr id="52" name="Shape 32">
            <a:extLst>
              <a:ext uri="{FF2B5EF4-FFF2-40B4-BE49-F238E27FC236}">
                <a16:creationId xmlns:a16="http://schemas.microsoft.com/office/drawing/2014/main" id="{CF7E6D9E-4CC8-4A42-8BE3-C862B60DD73A}"/>
              </a:ext>
            </a:extLst>
          </p:cNvPr>
          <p:cNvSpPr/>
          <p:nvPr/>
        </p:nvSpPr>
        <p:spPr>
          <a:xfrm>
            <a:off x="2465360" y="4512719"/>
            <a:ext cx="8034381" cy="1470230"/>
          </a:xfrm>
          <a:prstGeom prst="roundRect">
            <a:avLst>
              <a:gd name="adj" fmla="val 2337"/>
            </a:avLst>
          </a:prstGeom>
          <a:noFill/>
          <a:ln w="12668">
            <a:solidFill>
              <a:schemeClr val="bg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57219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032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Ο Προτεινόμενος Αλγόριθμος HBFGS</a:t>
            </a:r>
            <a:endParaRPr lang="en-US" sz="2993" dirty="0"/>
          </a:p>
        </p:txBody>
      </p:sp>
      <p:sp>
        <p:nvSpPr>
          <p:cNvPr id="3" name="Text 1"/>
          <p:cNvSpPr txBox="1"/>
          <p:nvPr/>
        </p:nvSpPr>
        <p:spPr>
          <a:xfrm>
            <a:off x="0" y="6604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Πλήρης Αλγοριθμική Περιγραφή</a:t>
            </a:r>
            <a:endParaRPr lang="en-US" sz="1496" dirty="0"/>
          </a:p>
        </p:txBody>
      </p:sp>
      <p:sp>
        <p:nvSpPr>
          <p:cNvPr id="4" name="Shape 2"/>
          <p:cNvSpPr/>
          <p:nvPr/>
        </p:nvSpPr>
        <p:spPr>
          <a:xfrm>
            <a:off x="304038" y="1143000"/>
            <a:ext cx="2533650" cy="1866900"/>
          </a:xfrm>
          <a:prstGeom prst="roundRect">
            <a:avLst>
              <a:gd name="adj" fmla="val 2666"/>
            </a:avLst>
          </a:prstGeom>
          <a:solidFill>
            <a:srgbClr val="0077BE"/>
          </a:solidFill>
          <a:ln w="6334">
            <a:solidFill>
              <a:srgbClr val="68B8D9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718" y="1250950"/>
            <a:ext cx="228029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5756" y="1250950"/>
            <a:ext cx="12986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Αρχικοποίηση</a:t>
            </a:r>
            <a:endParaRPr lang="en-US" sz="1496" dirty="0"/>
          </a:p>
        </p:txBody>
      </p:sp>
      <p:sp>
        <p:nvSpPr>
          <p:cNvPr id="7" name="Text 4"/>
          <p:cNvSpPr txBox="1"/>
          <p:nvPr/>
        </p:nvSpPr>
        <p:spPr>
          <a:xfrm>
            <a:off x="411718" y="1555750"/>
            <a:ext cx="23182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Δοθέντα: x₀, B₀ = I</a:t>
            </a:r>
            <a:endParaRPr lang="en-US" sz="1197" dirty="0"/>
          </a:p>
        </p:txBody>
      </p:sp>
      <p:sp>
        <p:nvSpPr>
          <p:cNvPr id="8" name="Text 5"/>
          <p:cNvSpPr txBox="1"/>
          <p:nvPr/>
        </p:nvSpPr>
        <p:spPr>
          <a:xfrm>
            <a:off x="411718" y="1784350"/>
            <a:ext cx="23182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&gt; 0</a:t>
            </a:r>
            <a:endParaRPr lang="en-US" sz="1197" dirty="0"/>
          </a:p>
        </p:txBody>
      </p:sp>
      <p:sp>
        <p:nvSpPr>
          <p:cNvPr id="9" name="Text 6"/>
          <p:cNvSpPr txBox="1"/>
          <p:nvPr/>
        </p:nvSpPr>
        <p:spPr>
          <a:xfrm>
            <a:off x="411718" y="2012950"/>
            <a:ext cx="23182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∈ (0,1)</a:t>
            </a:r>
            <a:endParaRPr lang="en-US" sz="1197" dirty="0"/>
          </a:p>
        </p:txBody>
      </p:sp>
      <p:sp>
        <p:nvSpPr>
          <p:cNvPr id="10" name="Text 7"/>
          <p:cNvSpPr txBox="1"/>
          <p:nvPr/>
        </p:nvSpPr>
        <p:spPr>
          <a:xfrm>
            <a:off x="411718" y="2241550"/>
            <a:ext cx="23182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∈ (0,1)</a:t>
            </a:r>
            <a:endParaRPr lang="en-US" sz="1197" dirty="0"/>
          </a:p>
        </p:txBody>
      </p:sp>
      <p:sp>
        <p:nvSpPr>
          <p:cNvPr id="11" name="Text 8"/>
          <p:cNvSpPr txBox="1"/>
          <p:nvPr/>
        </p:nvSpPr>
        <p:spPr>
          <a:xfrm>
            <a:off x="411718" y="2470150"/>
            <a:ext cx="23182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(tolerance)</a:t>
            </a:r>
            <a:endParaRPr lang="en-US" sz="1197" dirty="0"/>
          </a:p>
        </p:txBody>
      </p:sp>
      <p:sp>
        <p:nvSpPr>
          <p:cNvPr id="12" name="Text 9"/>
          <p:cNvSpPr txBox="1"/>
          <p:nvPr/>
        </p:nvSpPr>
        <p:spPr>
          <a:xfrm>
            <a:off x="411718" y="2698750"/>
            <a:ext cx="23182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0</a:t>
            </a:r>
            <a:endParaRPr lang="en-US" sz="1197" dirty="0"/>
          </a:p>
        </p:txBody>
      </p:sp>
      <p:sp>
        <p:nvSpPr>
          <p:cNvPr id="13" name="Shape 10"/>
          <p:cNvSpPr/>
          <p:nvPr/>
        </p:nvSpPr>
        <p:spPr>
          <a:xfrm>
            <a:off x="2939034" y="1428750"/>
            <a:ext cx="8918448" cy="584200"/>
          </a:xfrm>
          <a:prstGeom prst="roundRect">
            <a:avLst>
              <a:gd name="adj" fmla="val 27221"/>
            </a:avLst>
          </a:prstGeom>
          <a:solidFill>
            <a:srgbClr val="0077BE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015044" y="1504950"/>
            <a:ext cx="354711" cy="355600"/>
          </a:xfrm>
          <a:prstGeom prst="roundRect">
            <a:avLst>
              <a:gd name="adj" fmla="val 92057695"/>
            </a:avLst>
          </a:prstGeom>
          <a:solidFill>
            <a:srgbClr val="68B8D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128959" y="1555750"/>
            <a:ext cx="1268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00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795" dirty="0"/>
          </a:p>
        </p:txBody>
      </p:sp>
      <p:sp>
        <p:nvSpPr>
          <p:cNvPr id="16" name="Text 13"/>
          <p:cNvSpPr txBox="1"/>
          <p:nvPr/>
        </p:nvSpPr>
        <p:spPr>
          <a:xfrm>
            <a:off x="3471101" y="1530350"/>
            <a:ext cx="831037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Έλεγχος Τερματισμού</a:t>
            </a:r>
            <a:endParaRPr lang="en-US" sz="1197" dirty="0">
              <a:solidFill>
                <a:schemeClr val="bg1"/>
              </a:solidFill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3471101" y="1758950"/>
            <a:ext cx="83103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dirty="0">
                <a:solidFill>
                  <a:schemeClr val="bg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Αν </a:t>
            </a:r>
            <a:r>
              <a:rPr lang="en-US" sz="898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||gₖ|| &lt; ε</a:t>
            </a:r>
            <a:r>
              <a:rPr lang="en-US" sz="898" dirty="0">
                <a:solidFill>
                  <a:schemeClr val="bg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, ΤΕΡΜΑΤΙΣΜΟΣ</a:t>
            </a:r>
            <a:endParaRPr lang="en-US" sz="898" dirty="0">
              <a:solidFill>
                <a:schemeClr val="bg1"/>
              </a:solidFill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22249" y="2051050"/>
            <a:ext cx="152019" cy="1524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939034" y="2241550"/>
            <a:ext cx="8918448" cy="584200"/>
          </a:xfrm>
          <a:prstGeom prst="roundRect">
            <a:avLst>
              <a:gd name="adj" fmla="val 27221"/>
            </a:avLst>
          </a:prstGeom>
          <a:solidFill>
            <a:srgbClr val="0077BE">
              <a:alpha val="10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3015044" y="2317750"/>
            <a:ext cx="354711" cy="355600"/>
          </a:xfrm>
          <a:prstGeom prst="roundRect">
            <a:avLst>
              <a:gd name="adj" fmla="val 92057695"/>
            </a:avLst>
          </a:prstGeom>
          <a:solidFill>
            <a:srgbClr val="68B8D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3128959" y="2368550"/>
            <a:ext cx="1268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00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795" dirty="0"/>
          </a:p>
        </p:txBody>
      </p:sp>
      <p:sp>
        <p:nvSpPr>
          <p:cNvPr id="22" name="Text 18"/>
          <p:cNvSpPr txBox="1"/>
          <p:nvPr/>
        </p:nvSpPr>
        <p:spPr>
          <a:xfrm>
            <a:off x="3471101" y="2343150"/>
            <a:ext cx="831037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Υπολογισμός Κατεύθυνσης</a:t>
            </a:r>
            <a:endParaRPr lang="en-US" sz="1197" dirty="0"/>
          </a:p>
        </p:txBody>
      </p:sp>
      <p:sp>
        <p:nvSpPr>
          <p:cNvPr id="23" name="Text 19"/>
          <p:cNvSpPr txBox="1"/>
          <p:nvPr/>
        </p:nvSpPr>
        <p:spPr>
          <a:xfrm>
            <a:off x="3471101" y="2571750"/>
            <a:ext cx="83103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Υπολογισμός </a:t>
            </a:r>
            <a:r>
              <a:rPr lang="en-US" sz="898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dₖ = -Bₖ⁻¹gₖ + λₖdₖ₋₁</a:t>
            </a:r>
            <a:endParaRPr lang="en-US" sz="898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22249" y="2863850"/>
            <a:ext cx="152019" cy="1524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2939034" y="3054350"/>
            <a:ext cx="8918448" cy="584200"/>
          </a:xfrm>
          <a:prstGeom prst="roundRect">
            <a:avLst>
              <a:gd name="adj" fmla="val 27221"/>
            </a:avLst>
          </a:prstGeom>
          <a:solidFill>
            <a:srgbClr val="0077BE">
              <a:alpha val="10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3015044" y="3130550"/>
            <a:ext cx="354711" cy="355600"/>
          </a:xfrm>
          <a:prstGeom prst="roundRect">
            <a:avLst>
              <a:gd name="adj" fmla="val 92057695"/>
            </a:avLst>
          </a:prstGeom>
          <a:solidFill>
            <a:srgbClr val="68B8D9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3128959" y="3181350"/>
            <a:ext cx="1268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00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795" dirty="0"/>
          </a:p>
        </p:txBody>
      </p:sp>
      <p:sp>
        <p:nvSpPr>
          <p:cNvPr id="28" name="Text 23"/>
          <p:cNvSpPr txBox="1"/>
          <p:nvPr/>
        </p:nvSpPr>
        <p:spPr>
          <a:xfrm>
            <a:off x="3471101" y="3155950"/>
            <a:ext cx="831037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Line Search</a:t>
            </a:r>
            <a:endParaRPr lang="en-US" sz="1197" dirty="0"/>
          </a:p>
        </p:txBody>
      </p:sp>
      <p:sp>
        <p:nvSpPr>
          <p:cNvPr id="29" name="Text 24"/>
          <p:cNvSpPr txBox="1"/>
          <p:nvPr/>
        </p:nvSpPr>
        <p:spPr>
          <a:xfrm>
            <a:off x="3471101" y="3384550"/>
            <a:ext cx="83103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Υπολογισμός αₖ με Armijo συνθήκη</a:t>
            </a:r>
            <a:endParaRPr lang="en-US" sz="898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22249" y="3676650"/>
            <a:ext cx="152019" cy="1524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2939034" y="3867150"/>
            <a:ext cx="8918448" cy="584200"/>
          </a:xfrm>
          <a:prstGeom prst="roundRect">
            <a:avLst>
              <a:gd name="adj" fmla="val 27221"/>
            </a:avLst>
          </a:prstGeom>
          <a:solidFill>
            <a:srgbClr val="0077BE">
              <a:alpha val="10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3015044" y="3943350"/>
            <a:ext cx="354711" cy="355600"/>
          </a:xfrm>
          <a:prstGeom prst="roundRect">
            <a:avLst>
              <a:gd name="adj" fmla="val 92057695"/>
            </a:avLst>
          </a:prstGeom>
          <a:solidFill>
            <a:srgbClr val="68B8D9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3128959" y="3994150"/>
            <a:ext cx="1268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00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795" dirty="0"/>
          </a:p>
        </p:txBody>
      </p:sp>
      <p:sp>
        <p:nvSpPr>
          <p:cNvPr id="34" name="Text 28"/>
          <p:cNvSpPr txBox="1"/>
          <p:nvPr/>
        </p:nvSpPr>
        <p:spPr>
          <a:xfrm>
            <a:off x="3471101" y="3968750"/>
            <a:ext cx="831037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Ενημέρωση Θέσης</a:t>
            </a:r>
            <a:endParaRPr lang="en-US" sz="1197" dirty="0"/>
          </a:p>
        </p:txBody>
      </p:sp>
      <p:sp>
        <p:nvSpPr>
          <p:cNvPr id="35" name="Text 29"/>
          <p:cNvSpPr txBox="1"/>
          <p:nvPr/>
        </p:nvSpPr>
        <p:spPr>
          <a:xfrm>
            <a:off x="3471101" y="4197350"/>
            <a:ext cx="83103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xₖ₊₁ = xₖ + αₖdₖ</a:t>
            </a:r>
            <a:endParaRPr lang="en-US" sz="898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22249" y="4489450"/>
            <a:ext cx="152019" cy="152400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2939034" y="4679950"/>
            <a:ext cx="8918448" cy="596900"/>
          </a:xfrm>
          <a:prstGeom prst="roundRect">
            <a:avLst>
              <a:gd name="adj" fmla="val 26075"/>
            </a:avLst>
          </a:prstGeom>
          <a:solidFill>
            <a:srgbClr val="68B8D9"/>
          </a:solidFill>
          <a:ln w="6334">
            <a:solidFill>
              <a:srgbClr val="68B8D9">
                <a:alpha val="50000"/>
              </a:srgbClr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3021378" y="4762500"/>
            <a:ext cx="354711" cy="355600"/>
          </a:xfrm>
          <a:prstGeom prst="roundRect">
            <a:avLst>
              <a:gd name="adj" fmla="val 92057695"/>
            </a:avLst>
          </a:prstGeom>
          <a:solidFill>
            <a:srgbClr val="68B8D9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3135293" y="4813300"/>
            <a:ext cx="1268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00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795" dirty="0"/>
          </a:p>
        </p:txBody>
      </p:sp>
      <p:sp>
        <p:nvSpPr>
          <p:cNvPr id="40" name="Text 33"/>
          <p:cNvSpPr txBox="1"/>
          <p:nvPr/>
        </p:nvSpPr>
        <p:spPr>
          <a:xfrm>
            <a:off x="3477435" y="4787900"/>
            <a:ext cx="829770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Update Matrix</a:t>
            </a:r>
            <a:endParaRPr lang="en-US" sz="1197" dirty="0"/>
          </a:p>
        </p:txBody>
      </p:sp>
      <p:sp>
        <p:nvSpPr>
          <p:cNvPr id="41" name="Text 34"/>
          <p:cNvSpPr txBox="1"/>
          <p:nvPr/>
        </p:nvSpPr>
        <p:spPr>
          <a:xfrm>
            <a:off x="3477435" y="5016500"/>
            <a:ext cx="829770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Ενημέρωση Bₖ → Bₖ₊₁ (BFGS) αν </a:t>
            </a:r>
            <a:r>
              <a:rPr lang="en-US" sz="898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yₖᵀsₖ &gt; 0</a:t>
            </a:r>
            <a:endParaRPr lang="en-US" sz="898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22249" y="5314950"/>
            <a:ext cx="152019" cy="152400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2939034" y="5505450"/>
            <a:ext cx="8918448" cy="584200"/>
          </a:xfrm>
          <a:prstGeom prst="roundRect">
            <a:avLst>
              <a:gd name="adj" fmla="val 27221"/>
            </a:avLst>
          </a:prstGeom>
          <a:solidFill>
            <a:srgbClr val="0077BE">
              <a:alpha val="10000"/>
            </a:srgbClr>
          </a:solidFill>
          <a:ln/>
        </p:spPr>
      </p:sp>
      <p:sp>
        <p:nvSpPr>
          <p:cNvPr id="44" name="Shape 36"/>
          <p:cNvSpPr/>
          <p:nvPr/>
        </p:nvSpPr>
        <p:spPr>
          <a:xfrm>
            <a:off x="3015044" y="5581650"/>
            <a:ext cx="354711" cy="355600"/>
          </a:xfrm>
          <a:prstGeom prst="roundRect">
            <a:avLst>
              <a:gd name="adj" fmla="val 92057695"/>
            </a:avLst>
          </a:prstGeom>
          <a:solidFill>
            <a:srgbClr val="68B8D9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3128959" y="5632450"/>
            <a:ext cx="1268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00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795" dirty="0"/>
          </a:p>
        </p:txBody>
      </p:sp>
      <p:sp>
        <p:nvSpPr>
          <p:cNvPr id="46" name="Text 38"/>
          <p:cNvSpPr txBox="1"/>
          <p:nvPr/>
        </p:nvSpPr>
        <p:spPr>
          <a:xfrm>
            <a:off x="3471101" y="5607050"/>
            <a:ext cx="831037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Επανάληψη</a:t>
            </a:r>
            <a:endParaRPr lang="en-US" sz="1197" dirty="0"/>
          </a:p>
        </p:txBody>
      </p:sp>
      <p:sp>
        <p:nvSpPr>
          <p:cNvPr id="47" name="Text 39"/>
          <p:cNvSpPr txBox="1"/>
          <p:nvPr/>
        </p:nvSpPr>
        <p:spPr>
          <a:xfrm>
            <a:off x="3471101" y="5835650"/>
            <a:ext cx="83103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 = k + 1, επιστροφή στο Βήμα 1</a:t>
            </a:r>
            <a:endParaRPr lang="en-US" sz="898" dirty="0"/>
          </a:p>
        </p:txBody>
      </p:sp>
      <p:sp>
        <p:nvSpPr>
          <p:cNvPr id="48" name="Text 40"/>
          <p:cNvSpPr txBox="1"/>
          <p:nvPr/>
        </p:nvSpPr>
        <p:spPr>
          <a:xfrm>
            <a:off x="304038" y="6553200"/>
            <a:ext cx="216132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HBFGS Method | Ibrahim &amp; Mamat, 2014</a:t>
            </a:r>
            <a:endParaRPr lang="en-US" sz="998" dirty="0"/>
          </a:p>
        </p:txBody>
      </p:sp>
      <p:sp>
        <p:nvSpPr>
          <p:cNvPr id="49" name="Text 41"/>
          <p:cNvSpPr txBox="1"/>
          <p:nvPr/>
        </p:nvSpPr>
        <p:spPr>
          <a:xfrm>
            <a:off x="11794141" y="6553200"/>
            <a:ext cx="15795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l-GR" sz="998" dirty="0">
                <a:solidFill>
                  <a:schemeClr val="bg1"/>
                </a:solidFill>
              </a:rPr>
              <a:t>9</a:t>
            </a:r>
            <a:endParaRPr lang="en-US" sz="998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540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l-GR" sz="3200" dirty="0">
                <a:solidFill>
                  <a:schemeClr val="bg1"/>
                </a:solidFill>
              </a:rPr>
              <a:t>Υπολογιστική Πολυπλοκότητα και Απαιτήσεις Μνήμης</a:t>
            </a:r>
          </a:p>
        </p:txBody>
      </p:sp>
      <p:sp>
        <p:nvSpPr>
          <p:cNvPr id="4" name="Shape 2"/>
          <p:cNvSpPr/>
          <p:nvPr/>
        </p:nvSpPr>
        <p:spPr>
          <a:xfrm>
            <a:off x="506730" y="1295400"/>
            <a:ext cx="4398357" cy="4978400"/>
          </a:xfrm>
          <a:prstGeom prst="roundRect">
            <a:avLst>
              <a:gd name="adj" fmla="val 6519"/>
            </a:avLst>
          </a:prstGeom>
          <a:solidFill>
            <a:srgbClr val="0077BE">
              <a:alpha val="1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35768" y="1364103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HBFGS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33412" y="2200910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l-GR" sz="1600" dirty="0">
                <a:solidFill>
                  <a:schemeClr val="bg1"/>
                </a:solidFill>
              </a:rPr>
              <a:t>• Χρόνος: O(n²) + O(n) για τον υπολογισμό του λₖdₖ₋₁</a:t>
            </a:r>
          </a:p>
          <a:p>
            <a:r>
              <a:rPr lang="el-GR" sz="1600" dirty="0">
                <a:solidFill>
                  <a:schemeClr val="bg1"/>
                </a:solidFill>
              </a:rPr>
              <a:t>  - Επιπλέον κόστος: Αμελητέο (μόνο O(n) πράξεις)</a:t>
            </a:r>
          </a:p>
        </p:txBody>
      </p:sp>
      <p:sp>
        <p:nvSpPr>
          <p:cNvPr id="34" name="Shape 32"/>
          <p:cNvSpPr/>
          <p:nvPr/>
        </p:nvSpPr>
        <p:spPr>
          <a:xfrm>
            <a:off x="5057106" y="1295400"/>
            <a:ext cx="6597684" cy="4978400"/>
          </a:xfrm>
          <a:prstGeom prst="roundRect">
            <a:avLst>
              <a:gd name="adj" fmla="val 2337"/>
            </a:avLst>
          </a:prstGeom>
          <a:solidFill>
            <a:srgbClr val="68B8D9"/>
          </a:solidFill>
          <a:ln w="12668">
            <a:solidFill>
              <a:srgbClr val="68B8D9"/>
            </a:solidFill>
            <a:prstDash val="solid"/>
          </a:ln>
        </p:spPr>
        <p:txBody>
          <a:bodyPr/>
          <a:lstStyle/>
          <a:p>
            <a:endParaRPr lang="el-GR" dirty="0"/>
          </a:p>
        </p:txBody>
      </p:sp>
      <p:sp>
        <p:nvSpPr>
          <p:cNvPr id="37" name="Text 35"/>
          <p:cNvSpPr txBox="1"/>
          <p:nvPr/>
        </p:nvSpPr>
        <p:spPr>
          <a:xfrm>
            <a:off x="3892699" y="666074"/>
            <a:ext cx="631898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l-GR" dirty="0">
                <a:solidFill>
                  <a:schemeClr val="bg1"/>
                </a:solidFill>
                <a:latin typeface="Palatino Linotype" panose="02040502050505030304" pitchFamily="18" charset="0"/>
              </a:rPr>
              <a:t>Ανάλυση Πολυπλοκότητας ανά </a:t>
            </a:r>
            <a:r>
              <a:rPr lang="en-US" dirty="0">
                <a:solidFill>
                  <a:schemeClr val="bg1"/>
                </a:solidFill>
                <a:latin typeface="Palatino Linotype" panose="02040502050505030304" pitchFamily="18" charset="0"/>
              </a:rPr>
              <a:t>Iteration</a:t>
            </a:r>
            <a:endParaRPr lang="el-GR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922871" y="4884363"/>
            <a:ext cx="7728889" cy="1071203"/>
          </a:xfrm>
          <a:prstGeom prst="roundRect">
            <a:avLst>
              <a:gd name="adj" fmla="val 19945"/>
            </a:avLst>
          </a:prstGeom>
          <a:solidFill>
            <a:srgbClr val="68B8D9">
              <a:alpha val="20000"/>
            </a:srgbClr>
          </a:solidFill>
          <a:ln/>
        </p:spPr>
        <p:txBody>
          <a:bodyPr/>
          <a:lstStyle/>
          <a:p>
            <a:r>
              <a:rPr lang="el-GR" dirty="0">
                <a:solidFill>
                  <a:schemeClr val="bg1"/>
                </a:solidFill>
              </a:rPr>
              <a:t>• Το HBFGS έχει σχεδόν ίδιο computational cost με το BFGS</a:t>
            </a:r>
          </a:p>
          <a:p>
            <a:r>
              <a:rPr lang="el-GR" dirty="0">
                <a:solidFill>
                  <a:schemeClr val="bg1"/>
                </a:solidFill>
              </a:rPr>
              <a:t>• Αλλά συγκλίνει 60-70% ταχύτερα → Συνολικά πολύ πιο αποδοτικό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4597263" y="4556365"/>
            <a:ext cx="631898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l-GR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Κρίσιμη Παρατήρηση</a:t>
            </a:r>
          </a:p>
        </p:txBody>
      </p:sp>
      <p:sp>
        <p:nvSpPr>
          <p:cNvPr id="41" name="Text 39"/>
          <p:cNvSpPr txBox="1"/>
          <p:nvPr/>
        </p:nvSpPr>
        <p:spPr>
          <a:xfrm>
            <a:off x="304038" y="6527800"/>
            <a:ext cx="216132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HBFGS Method | Ibrahim &amp; Mamat, 2014</a:t>
            </a:r>
            <a:endParaRPr lang="en-US" sz="998" dirty="0"/>
          </a:p>
        </p:txBody>
      </p:sp>
      <p:sp>
        <p:nvSpPr>
          <p:cNvPr id="42" name="Text 40"/>
          <p:cNvSpPr txBox="1"/>
          <p:nvPr/>
        </p:nvSpPr>
        <p:spPr>
          <a:xfrm>
            <a:off x="11794141" y="6527800"/>
            <a:ext cx="21672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l-GR" sz="998" dirty="0">
                <a:solidFill>
                  <a:srgbClr val="F0F8FF"/>
                </a:solidFill>
                <a:latin typeface="Palatino Linotype" pitchFamily="34" charset="0"/>
              </a:rPr>
              <a:t>10</a:t>
            </a:r>
            <a:endParaRPr lang="en-US" sz="998" dirty="0"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33FBC6F9-8F4C-48EF-908E-817DC0267ACC}"/>
              </a:ext>
            </a:extLst>
          </p:cNvPr>
          <p:cNvSpPr txBox="1"/>
          <p:nvPr/>
        </p:nvSpPr>
        <p:spPr>
          <a:xfrm>
            <a:off x="7865873" y="1429815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BFGS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B8D3E15F-6D7E-438E-BFD4-04CB9EF29912}"/>
              </a:ext>
            </a:extLst>
          </p:cNvPr>
          <p:cNvSpPr txBox="1"/>
          <p:nvPr/>
        </p:nvSpPr>
        <p:spPr>
          <a:xfrm>
            <a:off x="5263423" y="1970241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l-GR" sz="1600" dirty="0">
                <a:solidFill>
                  <a:schemeClr val="accent5">
                    <a:lumMod val="50000"/>
                  </a:schemeClr>
                </a:solidFill>
              </a:rPr>
              <a:t>• Χρόνος: O(n²) για update της Bₖ και υπολογισμό dₖ = -Bₖ⁻¹gₖ</a:t>
            </a:r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83CC6CB7-7C2D-48F6-8DB4-F9A2FB79B483}"/>
              </a:ext>
            </a:extLst>
          </p:cNvPr>
          <p:cNvSpPr txBox="1"/>
          <p:nvPr/>
        </p:nvSpPr>
        <p:spPr>
          <a:xfrm>
            <a:off x="633412" y="3200400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l-GR" sz="1600" dirty="0">
                <a:solidFill>
                  <a:schemeClr val="bg1"/>
                </a:solidFill>
              </a:rPr>
              <a:t>• Μνήμη: O(n²) + O(n) για αποθήκευση του dₖ₋₁</a:t>
            </a:r>
          </a:p>
          <a:p>
            <a:r>
              <a:rPr lang="el-GR" sz="1600" dirty="0">
                <a:solidFill>
                  <a:schemeClr val="bg1"/>
                </a:solidFill>
              </a:rPr>
              <a:t>  - Επιπλέον μνήμη: Πολύ μικρή (ένα διάνυσμα n-διάστασης)</a:t>
            </a:r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4489D0A4-24D0-4AC0-B8A4-0FBFDD892AAD}"/>
              </a:ext>
            </a:extLst>
          </p:cNvPr>
          <p:cNvSpPr txBox="1"/>
          <p:nvPr/>
        </p:nvSpPr>
        <p:spPr>
          <a:xfrm>
            <a:off x="5263423" y="2905555"/>
            <a:ext cx="414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l-GR" sz="1600" dirty="0">
                <a:solidFill>
                  <a:schemeClr val="accent5">
                    <a:lumMod val="50000"/>
                  </a:schemeClr>
                </a:solidFill>
              </a:rPr>
              <a:t>• Μνήμη: O(n²) για αποθήκευση του πίνακα Bₖ (n×n)</a:t>
            </a:r>
          </a:p>
        </p:txBody>
      </p:sp>
      <p:sp>
        <p:nvSpPr>
          <p:cNvPr id="52" name="Shape 32">
            <a:extLst>
              <a:ext uri="{FF2B5EF4-FFF2-40B4-BE49-F238E27FC236}">
                <a16:creationId xmlns:a16="http://schemas.microsoft.com/office/drawing/2014/main" id="{CF7E6D9E-4CC8-4A42-8BE3-C862B60DD73A}"/>
              </a:ext>
            </a:extLst>
          </p:cNvPr>
          <p:cNvSpPr/>
          <p:nvPr/>
        </p:nvSpPr>
        <p:spPr>
          <a:xfrm>
            <a:off x="2465360" y="4512719"/>
            <a:ext cx="8034381" cy="1470230"/>
          </a:xfrm>
          <a:prstGeom prst="roundRect">
            <a:avLst>
              <a:gd name="adj" fmla="val 2337"/>
            </a:avLst>
          </a:prstGeom>
          <a:noFill/>
          <a:ln w="12668">
            <a:solidFill>
              <a:schemeClr val="bg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22187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540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Αριθμητικά Αποτελέσματα</a:t>
            </a:r>
            <a:endParaRPr lang="en-US" sz="2993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0" y="7112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Performance Profiles και Συγκριτική Ανάλυση</a:t>
            </a:r>
            <a:endParaRPr lang="en-US" sz="1496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06730" y="1295400"/>
            <a:ext cx="8145685" cy="2590800"/>
          </a:xfrm>
          <a:prstGeom prst="roundRect">
            <a:avLst>
              <a:gd name="adj" fmla="val 1384"/>
            </a:avLst>
          </a:prstGeom>
          <a:solidFill>
            <a:srgbClr val="0077BE">
              <a:alpha val="1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3413" y="1435100"/>
            <a:ext cx="202692" cy="203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2114" y="1422400"/>
            <a:ext cx="38439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Performance Profiles (Dolan &amp; Moré, 2002)</a:t>
            </a:r>
            <a:endParaRPr lang="en-US" sz="1496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33413" y="1727200"/>
            <a:ext cx="789232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chemeClr val="bg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Τυποποιημένη μέθοδος σύγκρισης solvers σε μεγάλο σύνολο προβλημάτων</a:t>
            </a:r>
            <a:endParaRPr lang="en-US" sz="1197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3413" y="2006600"/>
            <a:ext cx="78923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i="1" dirty="0">
                <a:solidFill>
                  <a:schemeClr val="bg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Καμπύλη ψηλότερα και αριστερότερα = καλύτερος solver</a:t>
            </a:r>
            <a:endParaRPr lang="en-US" sz="998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8804434" y="1295400"/>
            <a:ext cx="2850356" cy="2590800"/>
          </a:xfrm>
          <a:prstGeom prst="roundRect">
            <a:avLst>
              <a:gd name="adj" fmla="val 1384"/>
            </a:avLst>
          </a:prstGeom>
          <a:solidFill>
            <a:srgbClr val="68B8D9"/>
          </a:solidFill>
          <a:ln w="6334">
            <a:solidFill>
              <a:srgbClr val="68B8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37450" y="1428750"/>
            <a:ext cx="258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Συγκριτικά Αποτελέσματα</a:t>
            </a:r>
            <a:endParaRPr lang="en-US" sz="1496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937450" y="1758950"/>
            <a:ext cx="258432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chemeClr val="bg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Συνολικές Επαναλήψεις:</a:t>
            </a:r>
            <a:endParaRPr lang="en-US" sz="998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937450" y="1974850"/>
            <a:ext cx="118982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BFGS: 213,484</a:t>
            </a:r>
            <a:endParaRPr lang="en-US" sz="1197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1078088" y="1962150"/>
            <a:ext cx="443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-65%</a:t>
            </a:r>
            <a:endParaRPr lang="en-US" sz="1496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8937450" y="2190750"/>
            <a:ext cx="258432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HBFGS: 74,752</a:t>
            </a:r>
            <a:endParaRPr lang="en-US" sz="1197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937450" y="2470150"/>
            <a:ext cx="2584323" cy="717550"/>
          </a:xfrm>
          <a:prstGeom prst="rect">
            <a:avLst/>
          </a:prstGeom>
          <a:noFill/>
          <a:ln w="6334">
            <a:solidFill>
              <a:srgbClr val="68B8D9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37450" y="2552700"/>
            <a:ext cx="258432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chemeClr val="bg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Συνολικός CPU Time:</a:t>
            </a:r>
            <a:endParaRPr lang="en-US" sz="998" dirty="0">
              <a:solidFill>
                <a:schemeClr val="bg1"/>
              </a:solidFill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8937450" y="2768600"/>
            <a:ext cx="128137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BFGS: 5,580.3s</a:t>
            </a:r>
            <a:endParaRPr lang="en-US" sz="1197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11078088" y="2755900"/>
            <a:ext cx="4436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-69%</a:t>
            </a:r>
            <a:endParaRPr lang="en-US" sz="1496" dirty="0">
              <a:solidFill>
                <a:schemeClr val="bg1"/>
              </a:solidFill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8937450" y="2984500"/>
            <a:ext cx="258432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HBFGS: 1,742.6s</a:t>
            </a:r>
            <a:endParaRPr lang="en-US" sz="1197" dirty="0">
              <a:solidFill>
                <a:schemeClr val="bg1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937450" y="3263900"/>
            <a:ext cx="2584323" cy="488950"/>
          </a:xfrm>
          <a:prstGeom prst="rect">
            <a:avLst/>
          </a:prstGeom>
          <a:noFill/>
          <a:ln w="6334">
            <a:solidFill>
              <a:srgbClr val="68B8D9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937450" y="3346450"/>
            <a:ext cx="258432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chemeClr val="bg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Success Rate:</a:t>
            </a:r>
            <a:endParaRPr lang="en-US" sz="998" dirty="0">
              <a:solidFill>
                <a:schemeClr val="bg1"/>
              </a:solidFill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8937450" y="3549650"/>
            <a:ext cx="100682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BFGS: 86.6%</a:t>
            </a:r>
            <a:endParaRPr lang="en-US" sz="1197" dirty="0">
              <a:solidFill>
                <a:schemeClr val="bg1"/>
              </a:solidFill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10423495" y="3549650"/>
            <a:ext cx="10982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HBFGS: 95.5%</a:t>
            </a:r>
            <a:endParaRPr lang="en-US" sz="1197" dirty="0">
              <a:solidFill>
                <a:schemeClr val="bg1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06730" y="4038600"/>
            <a:ext cx="5498021" cy="2235200"/>
          </a:xfrm>
          <a:prstGeom prst="roundRect">
            <a:avLst>
              <a:gd name="adj" fmla="val 1860"/>
            </a:avLst>
          </a:prstGeom>
          <a:solidFill>
            <a:srgbClr val="0077BE">
              <a:alpha val="5000"/>
            </a:srgbClr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3413" y="4165600"/>
            <a:ext cx="5244656" cy="19812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156770" y="4038600"/>
            <a:ext cx="5498021" cy="2235200"/>
          </a:xfrm>
          <a:prstGeom prst="roundRect">
            <a:avLst>
              <a:gd name="adj" fmla="val 1860"/>
            </a:avLst>
          </a:prstGeom>
          <a:solidFill>
            <a:srgbClr val="0077BE">
              <a:alpha val="5000"/>
            </a:srgbClr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83452" y="4165600"/>
            <a:ext cx="5244656" cy="19812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304038" y="6527800"/>
            <a:ext cx="216132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chemeClr val="bg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HBFGS Method | Ibrahim &amp; Mamat, 2014</a:t>
            </a:r>
            <a:endParaRPr lang="en-US" sz="998" dirty="0">
              <a:solidFill>
                <a:schemeClr val="bg1"/>
              </a:solidFill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11794141" y="6527800"/>
            <a:ext cx="16385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l-GR" sz="998" dirty="0">
                <a:solidFill>
                  <a:schemeClr val="bg1"/>
                </a:solidFill>
                <a:latin typeface="Palatino Linotype" pitchFamily="34" charset="0"/>
              </a:rPr>
              <a:t>11</a:t>
            </a:r>
            <a:endParaRPr lang="en-US" sz="998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032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Πλεονεκτήματα και Συμπεράσματα</a:t>
            </a:r>
            <a:endParaRPr lang="en-US" sz="2993" dirty="0"/>
          </a:p>
        </p:txBody>
      </p:sp>
      <p:sp>
        <p:nvSpPr>
          <p:cNvPr id="3" name="Text 1"/>
          <p:cNvSpPr txBox="1"/>
          <p:nvPr/>
        </p:nvSpPr>
        <p:spPr>
          <a:xfrm>
            <a:off x="0" y="6604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Γιατί το HBFGS ξεπερνά το BFGS</a:t>
            </a:r>
            <a:endParaRPr lang="en-US" sz="1496" dirty="0"/>
          </a:p>
        </p:txBody>
      </p:sp>
      <p:sp>
        <p:nvSpPr>
          <p:cNvPr id="4" name="Shape 2"/>
          <p:cNvSpPr/>
          <p:nvPr/>
        </p:nvSpPr>
        <p:spPr>
          <a:xfrm>
            <a:off x="506730" y="1092200"/>
            <a:ext cx="2673001" cy="1498600"/>
          </a:xfrm>
          <a:prstGeom prst="roundRect">
            <a:avLst>
              <a:gd name="adj" fmla="val 4137"/>
            </a:avLst>
          </a:prstGeom>
          <a:solidFill>
            <a:srgbClr val="0077B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91211" y="1193800"/>
            <a:ext cx="304038" cy="304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9125" y="1574800"/>
            <a:ext cx="176821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Ανώτερη Αποδοτικότητα</a:t>
            </a:r>
            <a:endParaRPr lang="en-US" sz="1197" dirty="0"/>
          </a:p>
        </p:txBody>
      </p:sp>
      <p:sp>
        <p:nvSpPr>
          <p:cNvPr id="7" name="Text 4"/>
          <p:cNvSpPr txBox="1"/>
          <p:nvPr/>
        </p:nvSpPr>
        <p:spPr>
          <a:xfrm>
            <a:off x="608076" y="1828800"/>
            <a:ext cx="2470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65% λιγότερες επαναλήψεις</a:t>
            </a:r>
            <a:endParaRPr lang="en-US" sz="1496" dirty="0"/>
          </a:p>
        </p:txBody>
      </p:sp>
      <p:sp>
        <p:nvSpPr>
          <p:cNvPr id="8" name="Text 5"/>
          <p:cNvSpPr txBox="1"/>
          <p:nvPr/>
        </p:nvSpPr>
        <p:spPr>
          <a:xfrm>
            <a:off x="1180622" y="2311400"/>
            <a:ext cx="132511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69% μείωση σε CPU time</a:t>
            </a:r>
            <a:endParaRPr lang="en-US" sz="998" dirty="0"/>
          </a:p>
        </p:txBody>
      </p:sp>
      <p:sp>
        <p:nvSpPr>
          <p:cNvPr id="9" name="Shape 6"/>
          <p:cNvSpPr/>
          <p:nvPr/>
        </p:nvSpPr>
        <p:spPr>
          <a:xfrm>
            <a:off x="3331750" y="1092200"/>
            <a:ext cx="2673001" cy="1498600"/>
          </a:xfrm>
          <a:prstGeom prst="roundRect">
            <a:avLst>
              <a:gd name="adj" fmla="val 4137"/>
            </a:avLst>
          </a:prstGeom>
          <a:solidFill>
            <a:srgbClr val="0077B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6231" y="1308100"/>
            <a:ext cx="304038" cy="304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865202" y="1689100"/>
            <a:ext cx="160609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Βελτιωμένη Ευρωστία</a:t>
            </a:r>
            <a:endParaRPr lang="en-US" sz="1197" dirty="0"/>
          </a:p>
        </p:txBody>
      </p:sp>
      <p:sp>
        <p:nvSpPr>
          <p:cNvPr id="12" name="Text 8"/>
          <p:cNvSpPr txBox="1"/>
          <p:nvPr/>
        </p:nvSpPr>
        <p:spPr>
          <a:xfrm>
            <a:off x="3970903" y="1943100"/>
            <a:ext cx="1394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95.5% vs 86.6%</a:t>
            </a:r>
            <a:endParaRPr lang="en-US" sz="1496" dirty="0"/>
          </a:p>
        </p:txBody>
      </p:sp>
      <p:sp>
        <p:nvSpPr>
          <p:cNvPr id="13" name="Text 9"/>
          <p:cNvSpPr txBox="1"/>
          <p:nvPr/>
        </p:nvSpPr>
        <p:spPr>
          <a:xfrm>
            <a:off x="3848179" y="2197100"/>
            <a:ext cx="164014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Επιτυχής επίλυση προβλημάτων</a:t>
            </a:r>
            <a:endParaRPr lang="en-US" sz="998" dirty="0"/>
          </a:p>
        </p:txBody>
      </p:sp>
      <p:sp>
        <p:nvSpPr>
          <p:cNvPr id="14" name="Shape 10"/>
          <p:cNvSpPr/>
          <p:nvPr/>
        </p:nvSpPr>
        <p:spPr>
          <a:xfrm>
            <a:off x="6156770" y="1092200"/>
            <a:ext cx="2673001" cy="1498600"/>
          </a:xfrm>
          <a:prstGeom prst="roundRect">
            <a:avLst>
              <a:gd name="adj" fmla="val 4137"/>
            </a:avLst>
          </a:prstGeom>
          <a:solidFill>
            <a:srgbClr val="0077B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41251" y="1333500"/>
            <a:ext cx="304038" cy="3048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58116" y="1714500"/>
            <a:ext cx="2470309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Βελτιωμένη Διαδρομή Αναζήτησης</a:t>
            </a:r>
            <a:endParaRPr lang="en-US" sz="1197" dirty="0"/>
          </a:p>
        </p:txBody>
      </p:sp>
      <p:sp>
        <p:nvSpPr>
          <p:cNvPr id="17" name="Text 12"/>
          <p:cNvSpPr txBox="1"/>
          <p:nvPr/>
        </p:nvSpPr>
        <p:spPr>
          <a:xfrm>
            <a:off x="6396576" y="2171700"/>
            <a:ext cx="219338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Αξιοποίηση ιστορίας με conjugate gradient</a:t>
            </a:r>
            <a:endParaRPr lang="en-US" sz="998" dirty="0"/>
          </a:p>
        </p:txBody>
      </p:sp>
      <p:sp>
        <p:nvSpPr>
          <p:cNvPr id="18" name="Shape 13"/>
          <p:cNvSpPr/>
          <p:nvPr/>
        </p:nvSpPr>
        <p:spPr>
          <a:xfrm>
            <a:off x="8981789" y="1092200"/>
            <a:ext cx="2673001" cy="1498600"/>
          </a:xfrm>
          <a:prstGeom prst="roundRect">
            <a:avLst>
              <a:gd name="adj" fmla="val 4137"/>
            </a:avLst>
          </a:prstGeom>
          <a:solidFill>
            <a:srgbClr val="0077B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66271" y="1435100"/>
            <a:ext cx="304038" cy="3048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576108" y="1816100"/>
            <a:ext cx="148436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Θεωρητική Εγγύηση</a:t>
            </a:r>
            <a:endParaRPr lang="en-US" sz="1197" dirty="0"/>
          </a:p>
        </p:txBody>
      </p:sp>
      <p:sp>
        <p:nvSpPr>
          <p:cNvPr id="21" name="Text 15"/>
          <p:cNvSpPr txBox="1"/>
          <p:nvPr/>
        </p:nvSpPr>
        <p:spPr>
          <a:xfrm>
            <a:off x="9293052" y="2070100"/>
            <a:ext cx="205037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Ολική σύγκλιση υπό standard υποθέσεις</a:t>
            </a:r>
            <a:endParaRPr lang="en-US" sz="998" dirty="0"/>
          </a:p>
        </p:txBody>
      </p:sp>
      <p:sp>
        <p:nvSpPr>
          <p:cNvPr id="22" name="Shape 16"/>
          <p:cNvSpPr/>
          <p:nvPr/>
        </p:nvSpPr>
        <p:spPr>
          <a:xfrm>
            <a:off x="506730" y="2743200"/>
            <a:ext cx="8145685" cy="3733800"/>
          </a:xfrm>
          <a:prstGeom prst="roundRect">
            <a:avLst>
              <a:gd name="adj" fmla="val 666"/>
            </a:avLst>
          </a:prstGeom>
          <a:solidFill>
            <a:srgbClr val="0077BE">
              <a:alpha val="10000"/>
            </a:srgbClr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8749" y="2895600"/>
            <a:ext cx="253365" cy="2540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13460" y="2895600"/>
            <a:ext cx="23497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Κύρια Συμπεράσματα</a:t>
            </a:r>
            <a:endParaRPr lang="en-US" sz="1795" dirty="0"/>
          </a:p>
        </p:txBody>
      </p:sp>
      <p:sp>
        <p:nvSpPr>
          <p:cNvPr id="25" name="Shape 18"/>
          <p:cNvSpPr/>
          <p:nvPr/>
        </p:nvSpPr>
        <p:spPr>
          <a:xfrm>
            <a:off x="658749" y="3546475"/>
            <a:ext cx="202692" cy="203200"/>
          </a:xfrm>
          <a:prstGeom prst="roundRect">
            <a:avLst>
              <a:gd name="adj" fmla="val 281926692"/>
            </a:avLst>
          </a:prstGeom>
          <a:solidFill>
            <a:srgbClr val="68B8D9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728325" y="3559175"/>
            <a:ext cx="6344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b="1" dirty="0">
                <a:solidFill>
                  <a:srgbClr val="00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898" dirty="0"/>
          </a:p>
        </p:txBody>
      </p:sp>
      <p:sp>
        <p:nvSpPr>
          <p:cNvPr id="27" name="Text 20"/>
          <p:cNvSpPr txBox="1"/>
          <p:nvPr/>
        </p:nvSpPr>
        <p:spPr>
          <a:xfrm>
            <a:off x="937451" y="3521075"/>
            <a:ext cx="367300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Υβριδική προσέγγιση (quasi-Newton &amp; conjugate gradient).</a:t>
            </a:r>
            <a:endParaRPr lang="en-US" sz="1197" dirty="0"/>
          </a:p>
        </p:txBody>
      </p:sp>
      <p:sp>
        <p:nvSpPr>
          <p:cNvPr id="28" name="Shape 21"/>
          <p:cNvSpPr/>
          <p:nvPr/>
        </p:nvSpPr>
        <p:spPr>
          <a:xfrm>
            <a:off x="658749" y="4314825"/>
            <a:ext cx="202692" cy="203200"/>
          </a:xfrm>
          <a:prstGeom prst="roundRect">
            <a:avLst>
              <a:gd name="adj" fmla="val 281926692"/>
            </a:avLst>
          </a:prstGeom>
          <a:solidFill>
            <a:srgbClr val="68B8D9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728325" y="4327525"/>
            <a:ext cx="6344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b="1" dirty="0">
                <a:solidFill>
                  <a:srgbClr val="00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898" dirty="0"/>
          </a:p>
        </p:txBody>
      </p:sp>
      <p:sp>
        <p:nvSpPr>
          <p:cNvPr id="30" name="Text 23"/>
          <p:cNvSpPr txBox="1"/>
          <p:nvPr/>
        </p:nvSpPr>
        <p:spPr>
          <a:xfrm>
            <a:off x="937451" y="4289425"/>
            <a:ext cx="31490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Βελτιωμένη search direction για ανώτερη απόδοση.</a:t>
            </a:r>
            <a:endParaRPr lang="en-US" sz="1197" dirty="0"/>
          </a:p>
        </p:txBody>
      </p:sp>
      <p:sp>
        <p:nvSpPr>
          <p:cNvPr id="31" name="Shape 24"/>
          <p:cNvSpPr/>
          <p:nvPr/>
        </p:nvSpPr>
        <p:spPr>
          <a:xfrm>
            <a:off x="658749" y="5083175"/>
            <a:ext cx="202692" cy="203200"/>
          </a:xfrm>
          <a:prstGeom prst="roundRect">
            <a:avLst>
              <a:gd name="adj" fmla="val 281926692"/>
            </a:avLst>
          </a:prstGeom>
          <a:solidFill>
            <a:srgbClr val="68B8D9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728325" y="5095875"/>
            <a:ext cx="6344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b="1" dirty="0">
                <a:solidFill>
                  <a:srgbClr val="00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898" dirty="0"/>
          </a:p>
        </p:txBody>
      </p:sp>
      <p:sp>
        <p:nvSpPr>
          <p:cNvPr id="33" name="Text 26"/>
          <p:cNvSpPr txBox="1"/>
          <p:nvPr/>
        </p:nvSpPr>
        <p:spPr>
          <a:xfrm>
            <a:off x="937451" y="5057775"/>
            <a:ext cx="326375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Επιβεβαιωμένη ανωτερότητα σε πολλαπλές μετρικές.</a:t>
            </a:r>
            <a:endParaRPr lang="en-US" sz="1197" dirty="0"/>
          </a:p>
        </p:txBody>
      </p:sp>
      <p:sp>
        <p:nvSpPr>
          <p:cNvPr id="34" name="Shape 27"/>
          <p:cNvSpPr/>
          <p:nvPr/>
        </p:nvSpPr>
        <p:spPr>
          <a:xfrm>
            <a:off x="658749" y="5851525"/>
            <a:ext cx="202692" cy="203200"/>
          </a:xfrm>
          <a:prstGeom prst="roundRect">
            <a:avLst>
              <a:gd name="adj" fmla="val 281926692"/>
            </a:avLst>
          </a:prstGeom>
          <a:solidFill>
            <a:srgbClr val="68B8D9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728325" y="5864225"/>
            <a:ext cx="6344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b="1" dirty="0">
                <a:solidFill>
                  <a:srgbClr val="00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898" dirty="0"/>
          </a:p>
        </p:txBody>
      </p:sp>
      <p:sp>
        <p:nvSpPr>
          <p:cNvPr id="36" name="Text 29"/>
          <p:cNvSpPr txBox="1"/>
          <p:nvPr/>
        </p:nvSpPr>
        <p:spPr>
          <a:xfrm>
            <a:off x="937451" y="5826125"/>
            <a:ext cx="280532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Διατηρεί τις θεωρητικές εγγυήσεις της BFGS.</a:t>
            </a:r>
            <a:endParaRPr lang="en-US" sz="1197" dirty="0"/>
          </a:p>
        </p:txBody>
      </p:sp>
      <p:sp>
        <p:nvSpPr>
          <p:cNvPr id="37" name="Shape 30"/>
          <p:cNvSpPr/>
          <p:nvPr/>
        </p:nvSpPr>
        <p:spPr>
          <a:xfrm>
            <a:off x="8804434" y="2743200"/>
            <a:ext cx="2850356" cy="3733800"/>
          </a:xfrm>
          <a:prstGeom prst="roundRect">
            <a:avLst>
              <a:gd name="adj" fmla="val 873"/>
            </a:avLst>
          </a:prstGeom>
          <a:solidFill>
            <a:srgbClr val="68B8D9"/>
          </a:solidFill>
          <a:ln w="12668">
            <a:solidFill>
              <a:srgbClr val="68B8D9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026920" y="3860800"/>
            <a:ext cx="405384" cy="4064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574129" y="4368800"/>
            <a:ext cx="131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Κύριο Μήνυμα</a:t>
            </a:r>
            <a:endParaRPr lang="en-US" sz="1496" dirty="0">
              <a:solidFill>
                <a:schemeClr val="bg1"/>
              </a:solidFill>
            </a:endParaRPr>
          </a:p>
        </p:txBody>
      </p:sp>
      <p:sp>
        <p:nvSpPr>
          <p:cNvPr id="40" name="Text 32"/>
          <p:cNvSpPr txBox="1"/>
          <p:nvPr/>
        </p:nvSpPr>
        <p:spPr>
          <a:xfrm>
            <a:off x="9162708" y="4699000"/>
            <a:ext cx="213380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7" b="1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HBFGS: Γρήγορο και αξιόπιστο.</a:t>
            </a:r>
            <a:endParaRPr lang="en-US" sz="1197" dirty="0"/>
          </a:p>
        </p:txBody>
      </p:sp>
      <p:sp>
        <p:nvSpPr>
          <p:cNvPr id="41" name="Text 33"/>
          <p:cNvSpPr txBox="1"/>
          <p:nvPr/>
        </p:nvSpPr>
        <p:spPr>
          <a:xfrm>
            <a:off x="8969121" y="5003800"/>
            <a:ext cx="252098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Ιδανικό για πρακτικές εφαρμογές βελτιστοποίησης</a:t>
            </a:r>
            <a:endParaRPr lang="en-US" sz="998" dirty="0"/>
          </a:p>
        </p:txBody>
      </p:sp>
      <p:sp>
        <p:nvSpPr>
          <p:cNvPr id="42" name="Text 34"/>
          <p:cNvSpPr txBox="1"/>
          <p:nvPr/>
        </p:nvSpPr>
        <p:spPr>
          <a:xfrm>
            <a:off x="304038" y="6578600"/>
            <a:ext cx="216132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HBFGS Method | Ibrahim &amp; Mamat, 2014</a:t>
            </a:r>
            <a:endParaRPr lang="en-US" sz="998" dirty="0"/>
          </a:p>
        </p:txBody>
      </p:sp>
      <p:sp>
        <p:nvSpPr>
          <p:cNvPr id="43" name="Text 35"/>
          <p:cNvSpPr txBox="1"/>
          <p:nvPr/>
        </p:nvSpPr>
        <p:spPr>
          <a:xfrm>
            <a:off x="11794141" y="6578600"/>
            <a:ext cx="36737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l-GR" sz="998" dirty="0">
                <a:solidFill>
                  <a:srgbClr val="F0F8FF"/>
                </a:solidFill>
                <a:latin typeface="Palatino Linotype" pitchFamily="34" charset="0"/>
              </a:rPr>
              <a:t>12</a:t>
            </a:r>
            <a:endParaRPr lang="en-US" sz="99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54000"/>
            <a:ext cx="12161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93" b="1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Μελλοντικές Κατευθύνσεις και Βιβλιογραφία</a:t>
            </a:r>
            <a:endParaRPr lang="en-US" sz="2993" dirty="0"/>
          </a:p>
        </p:txBody>
      </p:sp>
      <p:sp>
        <p:nvSpPr>
          <p:cNvPr id="3" name="Text 1"/>
          <p:cNvSpPr txBox="1"/>
          <p:nvPr/>
        </p:nvSpPr>
        <p:spPr>
          <a:xfrm>
            <a:off x="0" y="711200"/>
            <a:ext cx="1216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6" dirty="0">
                <a:solidFill>
                  <a:srgbClr val="F0F8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Επόμενα Βήματα και Βασικές Αναφορές</a:t>
            </a:r>
            <a:endParaRPr lang="en-US" sz="1496" dirty="0"/>
          </a:p>
        </p:txBody>
      </p:sp>
      <p:sp>
        <p:nvSpPr>
          <p:cNvPr id="4" name="Shape 2"/>
          <p:cNvSpPr/>
          <p:nvPr/>
        </p:nvSpPr>
        <p:spPr>
          <a:xfrm>
            <a:off x="506730" y="1295400"/>
            <a:ext cx="4378068" cy="4419600"/>
          </a:xfrm>
          <a:prstGeom prst="roundRect">
            <a:avLst>
              <a:gd name="adj" fmla="val 480"/>
            </a:avLst>
          </a:prstGeom>
          <a:solidFill>
            <a:srgbClr val="0077BE">
              <a:alpha val="1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749" y="1447800"/>
            <a:ext cx="253365" cy="254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13460" y="1447800"/>
            <a:ext cx="21536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Μελλοντική Έρευνα</a:t>
            </a:r>
            <a:endParaRPr lang="en-US" sz="1795" dirty="0"/>
          </a:p>
        </p:txBody>
      </p:sp>
      <p:sp>
        <p:nvSpPr>
          <p:cNvPr id="7" name="Text 4"/>
          <p:cNvSpPr txBox="1"/>
          <p:nvPr/>
        </p:nvSpPr>
        <p:spPr>
          <a:xfrm>
            <a:off x="658749" y="1828800"/>
            <a:ext cx="40740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Οι συγγραφείς προτείνουν την εξερεύνηση:</a:t>
            </a:r>
            <a:endParaRPr lang="en-US" sz="1197" dirty="0"/>
          </a:p>
        </p:txBody>
      </p:sp>
      <p:sp>
        <p:nvSpPr>
          <p:cNvPr id="8" name="Text 5"/>
          <p:cNvSpPr txBox="1"/>
          <p:nvPr/>
        </p:nvSpPr>
        <p:spPr>
          <a:xfrm>
            <a:off x="658749" y="2133600"/>
            <a:ext cx="4074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Εναλλακτικοί Συντελεστές λₖ</a:t>
            </a:r>
            <a:endParaRPr lang="en-US" sz="1496" dirty="0"/>
          </a:p>
        </p:txBody>
      </p:sp>
      <p:sp>
        <p:nvSpPr>
          <p:cNvPr id="9" name="Text 6"/>
          <p:cNvSpPr txBox="1"/>
          <p:nvPr/>
        </p:nvSpPr>
        <p:spPr>
          <a:xfrm>
            <a:off x="658749" y="2413000"/>
            <a:ext cx="40740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Δοκιμή διαφορετικών τύπων από CG μεθόδους:</a:t>
            </a:r>
            <a:endParaRPr lang="en-US" sz="1197" dirty="0"/>
          </a:p>
        </p:txBody>
      </p:sp>
      <p:sp>
        <p:nvSpPr>
          <p:cNvPr id="10" name="Text 7"/>
          <p:cNvSpPr txBox="1"/>
          <p:nvPr/>
        </p:nvSpPr>
        <p:spPr>
          <a:xfrm>
            <a:off x="810768" y="2667000"/>
            <a:ext cx="392201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Fletcher-Reeves (FR)</a:t>
            </a:r>
            <a:endParaRPr lang="en-US" sz="998" dirty="0"/>
          </a:p>
        </p:txBody>
      </p:sp>
      <p:sp>
        <p:nvSpPr>
          <p:cNvPr id="11" name="Text 8"/>
          <p:cNvSpPr txBox="1"/>
          <p:nvPr/>
        </p:nvSpPr>
        <p:spPr>
          <a:xfrm>
            <a:off x="810768" y="2870200"/>
            <a:ext cx="392201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Hestenes-Stiefel (HS)</a:t>
            </a:r>
            <a:endParaRPr lang="en-US" sz="998" dirty="0"/>
          </a:p>
        </p:txBody>
      </p:sp>
      <p:sp>
        <p:nvSpPr>
          <p:cNvPr id="12" name="Text 9"/>
          <p:cNvSpPr txBox="1"/>
          <p:nvPr/>
        </p:nvSpPr>
        <p:spPr>
          <a:xfrm>
            <a:off x="810768" y="3073400"/>
            <a:ext cx="392201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Liu-Storey (LS)</a:t>
            </a:r>
            <a:endParaRPr lang="en-US" sz="998" dirty="0"/>
          </a:p>
        </p:txBody>
      </p:sp>
      <p:sp>
        <p:nvSpPr>
          <p:cNvPr id="13" name="Text 10"/>
          <p:cNvSpPr txBox="1"/>
          <p:nvPr/>
        </p:nvSpPr>
        <p:spPr>
          <a:xfrm>
            <a:off x="658749" y="3352800"/>
            <a:ext cx="4074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Επέκταση σε Constrained Προβλήματα</a:t>
            </a:r>
            <a:endParaRPr lang="en-US" sz="1496" dirty="0"/>
          </a:p>
        </p:txBody>
      </p:sp>
      <p:sp>
        <p:nvSpPr>
          <p:cNvPr id="14" name="Text 11"/>
          <p:cNvSpPr txBox="1"/>
          <p:nvPr/>
        </p:nvSpPr>
        <p:spPr>
          <a:xfrm>
            <a:off x="658749" y="3632200"/>
            <a:ext cx="40740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Προσαρμογή της μεθόδου για προβλήματα με περιορισμούς</a:t>
            </a:r>
            <a:endParaRPr lang="en-US" sz="1197" dirty="0"/>
          </a:p>
        </p:txBody>
      </p:sp>
      <p:sp>
        <p:nvSpPr>
          <p:cNvPr id="15" name="Text 12"/>
          <p:cNvSpPr txBox="1"/>
          <p:nvPr/>
        </p:nvSpPr>
        <p:spPr>
          <a:xfrm>
            <a:off x="658749" y="3937000"/>
            <a:ext cx="4074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Adaptive Parameter Selection</a:t>
            </a:r>
            <a:endParaRPr lang="en-US" sz="1496" dirty="0"/>
          </a:p>
        </p:txBody>
      </p:sp>
      <p:sp>
        <p:nvSpPr>
          <p:cNvPr id="16" name="Text 13"/>
          <p:cNvSpPr txBox="1"/>
          <p:nvPr/>
        </p:nvSpPr>
        <p:spPr>
          <a:xfrm>
            <a:off x="658749" y="4216400"/>
            <a:ext cx="40740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Δυναμική επιλογή της παραμέτρου η</a:t>
            </a:r>
            <a:endParaRPr lang="en-US" sz="1197" dirty="0"/>
          </a:p>
        </p:txBody>
      </p:sp>
      <p:sp>
        <p:nvSpPr>
          <p:cNvPr id="17" name="Text 14"/>
          <p:cNvSpPr txBox="1"/>
          <p:nvPr/>
        </p:nvSpPr>
        <p:spPr>
          <a:xfrm>
            <a:off x="658749" y="4521200"/>
            <a:ext cx="4074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Large-Scale Applications</a:t>
            </a:r>
            <a:endParaRPr lang="en-US" sz="1496" dirty="0"/>
          </a:p>
        </p:txBody>
      </p:sp>
      <p:sp>
        <p:nvSpPr>
          <p:cNvPr id="18" name="Text 15"/>
          <p:cNvSpPr txBox="1"/>
          <p:nvPr/>
        </p:nvSpPr>
        <p:spPr>
          <a:xfrm>
            <a:off x="658749" y="4800600"/>
            <a:ext cx="40740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97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Εφαρμογή σε πολύ μεγάλα προβλήματα (n &gt; 10,000)</a:t>
            </a:r>
            <a:endParaRPr lang="en-US" sz="1197" dirty="0"/>
          </a:p>
        </p:txBody>
      </p:sp>
      <p:sp>
        <p:nvSpPr>
          <p:cNvPr id="19" name="Shape 16"/>
          <p:cNvSpPr/>
          <p:nvPr/>
        </p:nvSpPr>
        <p:spPr>
          <a:xfrm>
            <a:off x="658749" y="5105400"/>
            <a:ext cx="4074030" cy="381000"/>
          </a:xfrm>
          <a:prstGeom prst="roundRect">
            <a:avLst>
              <a:gd name="adj" fmla="val 64000"/>
            </a:avLst>
          </a:prstGeom>
          <a:solidFill>
            <a:srgbClr val="68B8D9">
              <a:alpha val="10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60095" y="5207000"/>
            <a:ext cx="3871338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i="1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Πιθανότητα για ακόμα πιο αποδοτικούς υβριδικούς αλγορίθμους</a:t>
            </a:r>
            <a:endParaRPr lang="en-US" sz="998" dirty="0"/>
          </a:p>
        </p:txBody>
      </p:sp>
      <p:sp>
        <p:nvSpPr>
          <p:cNvPr id="21" name="Shape 18"/>
          <p:cNvSpPr/>
          <p:nvPr/>
        </p:nvSpPr>
        <p:spPr>
          <a:xfrm>
            <a:off x="5087490" y="1295400"/>
            <a:ext cx="6567300" cy="4419600"/>
          </a:xfrm>
          <a:prstGeom prst="roundRect">
            <a:avLst>
              <a:gd name="adj" fmla="val 476"/>
            </a:avLst>
          </a:prstGeom>
          <a:solidFill>
            <a:srgbClr val="0077BE">
              <a:alpha val="10000"/>
            </a:srgbClr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39509" y="1447800"/>
            <a:ext cx="253365" cy="2540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594220" y="1447800"/>
            <a:ext cx="18717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95" b="1" dirty="0">
                <a:solidFill>
                  <a:srgbClr val="68B8D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Κύριες Αναφορές</a:t>
            </a:r>
            <a:endParaRPr lang="en-US" sz="1795" dirty="0"/>
          </a:p>
        </p:txBody>
      </p:sp>
      <p:sp>
        <p:nvSpPr>
          <p:cNvPr id="24" name="Text 20"/>
          <p:cNvSpPr txBox="1"/>
          <p:nvPr/>
        </p:nvSpPr>
        <p:spPr>
          <a:xfrm>
            <a:off x="5239509" y="1828800"/>
            <a:ext cx="62632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68B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[1]</a:t>
            </a: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Ibrahim, M. A. H., &amp; Mamat, M. (2014). BFGS Method: A New Search Direction. </a:t>
            </a:r>
            <a:r>
              <a:rPr lang="en-US" sz="998" i="1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Sains Malaysiana</a:t>
            </a: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, 43(10), 1591-1597.</a:t>
            </a:r>
            <a:endParaRPr lang="en-US" sz="998" dirty="0"/>
          </a:p>
        </p:txBody>
      </p:sp>
      <p:sp>
        <p:nvSpPr>
          <p:cNvPr id="25" name="Text 21"/>
          <p:cNvSpPr txBox="1"/>
          <p:nvPr/>
        </p:nvSpPr>
        <p:spPr>
          <a:xfrm>
            <a:off x="5239509" y="2286000"/>
            <a:ext cx="62632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68B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[2]</a:t>
            </a: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Dolan, E. D., &amp; Moré, J. J. (2002). Benchmarking Optimization Software with Performance Profiles. </a:t>
            </a:r>
            <a:r>
              <a:rPr lang="en-US" sz="998" i="1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Mathematical Programming</a:t>
            </a: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, 91, 201-213.</a:t>
            </a:r>
            <a:endParaRPr lang="en-US" sz="998" dirty="0"/>
          </a:p>
        </p:txBody>
      </p:sp>
      <p:sp>
        <p:nvSpPr>
          <p:cNvPr id="26" name="Text 22"/>
          <p:cNvSpPr txBox="1"/>
          <p:nvPr/>
        </p:nvSpPr>
        <p:spPr>
          <a:xfrm>
            <a:off x="5239509" y="2743200"/>
            <a:ext cx="62632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68B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[3]</a:t>
            </a: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Andrei, N. (2008). An Unconstrained Optimization Test Functions Collection. </a:t>
            </a:r>
            <a:r>
              <a:rPr lang="en-US" sz="998" i="1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Advanced Modeling and Optimization</a:t>
            </a: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, 10(1), 147-161.</a:t>
            </a:r>
            <a:endParaRPr lang="en-US" sz="998" dirty="0"/>
          </a:p>
        </p:txBody>
      </p:sp>
      <p:sp>
        <p:nvSpPr>
          <p:cNvPr id="27" name="Text 23"/>
          <p:cNvSpPr txBox="1"/>
          <p:nvPr/>
        </p:nvSpPr>
        <p:spPr>
          <a:xfrm>
            <a:off x="5239509" y="3200400"/>
            <a:ext cx="62632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b="1" dirty="0">
                <a:solidFill>
                  <a:srgbClr val="68B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[4]</a:t>
            </a: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Moré, J. J., Garbow, B. S., &amp; Hillstrom, K. E. (1981). Testing Unconstrained Optimization Software. </a:t>
            </a:r>
            <a:r>
              <a:rPr lang="en-US" sz="998" i="1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ACM Transactions on Mathematical Software</a:t>
            </a: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, 7(1), 17-41.</a:t>
            </a:r>
            <a:endParaRPr lang="en-US" sz="998" dirty="0"/>
          </a:p>
        </p:txBody>
      </p:sp>
      <p:sp>
        <p:nvSpPr>
          <p:cNvPr id="28" name="Shape 24"/>
          <p:cNvSpPr/>
          <p:nvPr/>
        </p:nvSpPr>
        <p:spPr>
          <a:xfrm>
            <a:off x="5239509" y="3708400"/>
            <a:ext cx="6263262" cy="381000"/>
          </a:xfrm>
          <a:prstGeom prst="roundRect">
            <a:avLst>
              <a:gd name="adj" fmla="val 64000"/>
            </a:avLst>
          </a:prstGeom>
          <a:solidFill>
            <a:srgbClr val="68B8D9">
              <a:alpha val="5000"/>
            </a:srgbClr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5340855" y="3810000"/>
            <a:ext cx="606057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Πλήρης βιβλιογραφία διαθέσιμη στο πρωτότυπο paper</a:t>
            </a:r>
            <a:endParaRPr lang="en-US" sz="898" dirty="0"/>
          </a:p>
        </p:txBody>
      </p:sp>
      <p:sp>
        <p:nvSpPr>
          <p:cNvPr id="31" name="Text 26"/>
          <p:cNvSpPr txBox="1"/>
          <p:nvPr/>
        </p:nvSpPr>
        <p:spPr>
          <a:xfrm>
            <a:off x="4014549" y="5981700"/>
            <a:ext cx="3259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96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Ευχαριστ</a:t>
            </a:r>
            <a:r>
              <a:rPr lang="el-GR" sz="1496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ώ</a:t>
            </a:r>
            <a:r>
              <a:rPr lang="en-US" sz="1496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για την προσοχή σας</a:t>
            </a:r>
            <a:endParaRPr lang="en-US" sz="1496" dirty="0"/>
          </a:p>
        </p:txBody>
      </p:sp>
      <p:sp>
        <p:nvSpPr>
          <p:cNvPr id="32" name="Text 27"/>
          <p:cNvSpPr txBox="1"/>
          <p:nvPr/>
        </p:nvSpPr>
        <p:spPr>
          <a:xfrm>
            <a:off x="6831849" y="5981700"/>
            <a:ext cx="3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96" dirty="0"/>
          </a:p>
        </p:txBody>
      </p:sp>
      <p:sp>
        <p:nvSpPr>
          <p:cNvPr id="34" name="Text 29"/>
          <p:cNvSpPr txBox="1"/>
          <p:nvPr/>
        </p:nvSpPr>
        <p:spPr>
          <a:xfrm>
            <a:off x="304038" y="6527800"/>
            <a:ext cx="216132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HBFGS Method | Ibrahim &amp; Mamat, 2014</a:t>
            </a:r>
            <a:endParaRPr lang="en-US" sz="998" dirty="0"/>
          </a:p>
        </p:txBody>
      </p:sp>
      <p:sp>
        <p:nvSpPr>
          <p:cNvPr id="35" name="Text 30"/>
          <p:cNvSpPr txBox="1"/>
          <p:nvPr/>
        </p:nvSpPr>
        <p:spPr>
          <a:xfrm>
            <a:off x="11654790" y="6527800"/>
            <a:ext cx="20269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r>
              <a:rPr lang="el-GR" sz="998" dirty="0">
                <a:solidFill>
                  <a:srgbClr val="F0F8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99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1725</Words>
  <Application>Microsoft Office PowerPoint</Application>
  <PresentationFormat>Widescreen</PresentationFormat>
  <Paragraphs>264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Consolas</vt:lpstr>
      <vt:lpstr>Palatino Linotype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Alexandros Tsagkanos</cp:lastModifiedBy>
  <cp:revision>4</cp:revision>
  <dcterms:created xsi:type="dcterms:W3CDTF">2025-12-15T17:39:04Z</dcterms:created>
  <dcterms:modified xsi:type="dcterms:W3CDTF">2025-12-15T19:08:16Z</dcterms:modified>
</cp:coreProperties>
</file>